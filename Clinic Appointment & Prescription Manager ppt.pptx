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Introduce Clinic: a console-based Java application that books clinic appointments and manages prescriptions. Each of the six syllabus modules adds one layer to the build.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Scope of the project and how the six modules map onto it. Each card is one syllabus module and the layer of Clinica it builds.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Module 1: computational thinking and Java foundations applied to the booking problem. Show the flowchart on the board if time allows.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Module 2: conditionals make decisions about slots and fees; loops keep the menu alive and print lists. Avoid infinite loops by always offering an Exit option.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Module 3: modular programming and arrays. The 2D array is a doctors-by-days grid of booked slots.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Module 4: the domain model. Four core classes, a Person parent, one interface and a custom checked exception for double bookings.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Module 5: making data persistent. A record line looks like id, patient, doctor and time separated by a delimiter, parsed with split().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Module 6: collections as practical APIs, then declarative stream pipelines for the daily summary reports.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left to right: user input enters through the menu, services apply the rules, objects model the data, collections hold it in memory and files keep it between runs. M1 to M6 refer to the syllabus modules.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and open the floor for questions. Replace the bracketed team name with your own.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Slide-background-1-image-1.png"/><Relationship Id="rId2"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image" Target="../media/Slide-background-2-image-1.png"/><Relationship Id="rId2"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image" Target="../media/Slide-background-3-image-1.png"/><Relationship Id="rId2"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image" Target="../media/Slide-background-4-image-1.png"/><Relationship Id="rId2"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image" Target="../media/Slide-background-5-image-1.png"/><Relationship Id="rId2"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image" Target="../media/Slide-background-6-image-1.png"/><Relationship Id="rId2"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image" Target="../media/Slide-background-7-image-1.png"/><Relationship Id="rId2"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image" Target="../media/Slide-background-8-image-1.png"/><Relationship Id="rId2"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image" Target="../media/Slide-background-9-image-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body">
    <p:bg>
      <p:bgPr>
        <a:solidFill>
          <a:srgbClr val="D5ECE8"/>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1076961"/>
            <a:ext cx="10566400" cy="502920"/>
          </a:xfrm>
          <a:prstGeom prst="rect">
            <a:avLst/>
          </a:prstGeom>
          <a:noFill/>
          <a:ln/>
        </p:spPr>
        <p:txBody>
          <a:bodyPr wrap="square" lIns="0" tIns="0" rIns="0" bIns="0" rtlCol="0" anchor="t"/>
          <a:lstStyle>
            <a:lvl1pPr algn="l" indent="0" marL="0">
              <a:lnSpc>
                <a:spcPct val="115000"/>
              </a:lnSpc>
              <a:buNone/>
              <a:defRPr lang="en-US" sz="3600" dirty="0">
                <a:solidFill>
                  <a:srgbClr val="14181F"/>
                </a:solidFill>
                <a:latin typeface="Georgia" pitchFamily="34" charset="0"/>
                <a:ea typeface="Georgia" pitchFamily="34" charset="-122"/>
                <a:cs typeface="Georgia" pitchFamily="34" charset="-120"/>
              </a:defRPr>
            </a:lvl1pPr>
          </a:lstStyle>
          <a:p>
            <a:pPr algn="l" indent="0" marL="0">
              <a:lnSpc>
                <a:spcPct val="115000"/>
              </a:lnSpc>
              <a:buNone/>
            </a:pPr>
            <a:endParaRPr lang="en-US" sz="3600" dirty="0"/>
          </a:p>
        </p:txBody>
      </p:sp>
      <p:sp>
        <p:nvSpPr>
          <p:cNvPr id="3" name="Text Placeholder 2"/>
          <p:cNvSpPr/>
          <p:nvPr>
            <p:ph idx="101" type="body"/>
          </p:nvPr>
        </p:nvSpPr>
        <p:spPr>
          <a:xfrm>
            <a:off x="812800" y="1884681"/>
            <a:ext cx="10566400" cy="4160519"/>
          </a:xfrm>
          <a:prstGeom prst="rect">
            <a:avLst/>
          </a:prstGeom>
          <a:noFill/>
          <a:ln/>
        </p:spPr>
        <p:txBody>
          <a:bodyPr wrap="square" lIns="0" tIns="0" rIns="0" bIns="0" rtlCol="0" anchor="t"/>
          <a:lstStyle>
            <a:lvl1pPr algn="l" indent="0" marL="0">
              <a:lnSpc>
                <a:spcPct val="140000"/>
              </a:lnSpc>
              <a:buNone/>
              <a:defRPr lang="en-US" sz="1600" dirty="0">
                <a:solidFill>
                  <a:srgbClr val="14181F"/>
                </a:solidFill>
                <a:latin typeface="Arial" pitchFamily="34" charset="0"/>
                <a:ea typeface="Arial" pitchFamily="34" charset="-122"/>
                <a:cs typeface="Arial" pitchFamily="34" charset="-120"/>
              </a:defRPr>
            </a:lvl1pPr>
          </a:lstStyle>
          <a:p>
            <a:pPr algn="l" indent="0" marL="0">
              <a:lnSpc>
                <a:spcPct val="140000"/>
              </a:lnSpc>
              <a:buNone/>
            </a:pPr>
            <a:endParaRPr lang="en-US" sz="16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lide background 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itle Placeholder 1"/>
          <p:cNvSpPr/>
          <p:nvPr>
            <p:ph type="title"/>
          </p:nvPr>
        </p:nvSpPr>
        <p:spPr>
          <a:xfrm>
            <a:off x="812800" y="1076961"/>
            <a:ext cx="10566400" cy="502920"/>
          </a:xfrm>
          <a:prstGeom prst="rect">
            <a:avLst/>
          </a:prstGeom>
          <a:noFill/>
          <a:ln/>
        </p:spPr>
        <p:txBody>
          <a:bodyPr wrap="square" lIns="0" tIns="0" rIns="0" bIns="0" rtlCol="0" anchor="t"/>
          <a:lstStyle>
            <a:lvl1pPr algn="l" indent="0" marL="0">
              <a:lnSpc>
                <a:spcPct val="115000"/>
              </a:lnSpc>
              <a:buNone/>
              <a:defRPr lang="en-US" sz="3600" dirty="0">
                <a:solidFill>
                  <a:srgbClr val="14181F"/>
                </a:solidFill>
                <a:latin typeface="Georgia" pitchFamily="34" charset="0"/>
                <a:ea typeface="Georgia" pitchFamily="34" charset="-122"/>
                <a:cs typeface="Georgia" pitchFamily="34" charset="-120"/>
              </a:defRPr>
            </a:lvl1pPr>
          </a:lstStyle>
          <a:p>
            <a:pPr algn="l" indent="0" marL="0">
              <a:lnSpc>
                <a:spcPct val="115000"/>
              </a:lnSpc>
              <a:buNone/>
            </a:pPr>
            <a:endParaRPr lang="en-US" sz="3600" dirty="0"/>
          </a:p>
        </p:txBody>
      </p:sp>
      <p:sp>
        <p:nvSpPr>
          <p:cNvPr id="3" name="Text Placeholder 2"/>
          <p:cNvSpPr/>
          <p:nvPr>
            <p:ph idx="101" type="body"/>
          </p:nvPr>
        </p:nvSpPr>
        <p:spPr>
          <a:xfrm>
            <a:off x="812800" y="1884681"/>
            <a:ext cx="10566400" cy="4160519"/>
          </a:xfrm>
          <a:prstGeom prst="rect">
            <a:avLst/>
          </a:prstGeom>
          <a:noFill/>
          <a:ln/>
        </p:spPr>
        <p:txBody>
          <a:bodyPr wrap="square" lIns="0" tIns="0" rIns="0" bIns="0" rtlCol="0" anchor="t"/>
          <a:lstStyle>
            <a:lvl1pPr algn="l" indent="0" marL="0">
              <a:lnSpc>
                <a:spcPct val="140000"/>
              </a:lnSpc>
              <a:buNone/>
              <a:defRPr lang="en-US" sz="1600" dirty="0">
                <a:solidFill>
                  <a:srgbClr val="14181F"/>
                </a:solidFill>
                <a:latin typeface="Arial" pitchFamily="34" charset="0"/>
                <a:ea typeface="Arial" pitchFamily="34" charset="-122"/>
                <a:cs typeface="Arial" pitchFamily="34" charset="-120"/>
              </a:defRPr>
            </a:lvl1pPr>
          </a:lstStyle>
          <a:p>
            <a:pPr algn="l" indent="0" marL="0">
              <a:lnSpc>
                <a:spcPct val="140000"/>
              </a:lnSpc>
              <a:buNone/>
            </a:pPr>
            <a:endParaRPr lang="en-US" sz="1600"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lide background 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itle Placeholder 1"/>
          <p:cNvSpPr/>
          <p:nvPr>
            <p:ph type="title"/>
          </p:nvPr>
        </p:nvSpPr>
        <p:spPr>
          <a:xfrm>
            <a:off x="812800" y="1076961"/>
            <a:ext cx="10566400" cy="502920"/>
          </a:xfrm>
          <a:prstGeom prst="rect">
            <a:avLst/>
          </a:prstGeom>
          <a:noFill/>
          <a:ln/>
        </p:spPr>
        <p:txBody>
          <a:bodyPr wrap="square" lIns="0" tIns="0" rIns="0" bIns="0" rtlCol="0" anchor="t"/>
          <a:lstStyle>
            <a:lvl1pPr algn="l" indent="0" marL="0">
              <a:lnSpc>
                <a:spcPct val="115000"/>
              </a:lnSpc>
              <a:buNone/>
              <a:defRPr lang="en-US" sz="3600" dirty="0">
                <a:solidFill>
                  <a:srgbClr val="14181F"/>
                </a:solidFill>
                <a:latin typeface="Georgia" pitchFamily="34" charset="0"/>
                <a:ea typeface="Georgia" pitchFamily="34" charset="-122"/>
                <a:cs typeface="Georgia" pitchFamily="34" charset="-120"/>
              </a:defRPr>
            </a:lvl1pPr>
          </a:lstStyle>
          <a:p>
            <a:pPr algn="l" indent="0" marL="0">
              <a:lnSpc>
                <a:spcPct val="115000"/>
              </a:lnSpc>
              <a:buNone/>
            </a:pPr>
            <a:endParaRPr lang="en-US" sz="3600" dirty="0"/>
          </a:p>
        </p:txBody>
      </p:sp>
      <p:sp>
        <p:nvSpPr>
          <p:cNvPr id="3" name="Text Placeholder 2"/>
          <p:cNvSpPr/>
          <p:nvPr>
            <p:ph idx="101" type="body"/>
          </p:nvPr>
        </p:nvSpPr>
        <p:spPr>
          <a:xfrm>
            <a:off x="812800" y="1884681"/>
            <a:ext cx="10566400" cy="4160519"/>
          </a:xfrm>
          <a:prstGeom prst="rect">
            <a:avLst/>
          </a:prstGeom>
          <a:noFill/>
          <a:ln/>
        </p:spPr>
        <p:txBody>
          <a:bodyPr wrap="square" lIns="0" tIns="0" rIns="0" bIns="0" rtlCol="0" anchor="t"/>
          <a:lstStyle>
            <a:lvl1pPr algn="l" indent="0" marL="0">
              <a:lnSpc>
                <a:spcPct val="140000"/>
              </a:lnSpc>
              <a:buNone/>
              <a:defRPr lang="en-US" sz="1600" dirty="0">
                <a:solidFill>
                  <a:srgbClr val="2B3340"/>
                </a:solidFill>
                <a:latin typeface="Arial" pitchFamily="34" charset="0"/>
                <a:ea typeface="Arial" pitchFamily="34" charset="-122"/>
                <a:cs typeface="Arial" pitchFamily="34" charset="-120"/>
              </a:defRPr>
            </a:lvl1pPr>
          </a:lstStyle>
          <a:p>
            <a:pPr algn="l" indent="0" marL="0">
              <a:lnSpc>
                <a:spcPct val="140000"/>
              </a:lnSpc>
              <a:buNone/>
            </a:pPr>
            <a:endParaRPr lang="en-US" sz="1600"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lide background 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itle Placeholder 1"/>
          <p:cNvSpPr/>
          <p:nvPr>
            <p:ph type="title"/>
          </p:nvPr>
        </p:nvSpPr>
        <p:spPr>
          <a:xfrm>
            <a:off x="812800" y="1076961"/>
            <a:ext cx="10566400" cy="502920"/>
          </a:xfrm>
          <a:prstGeom prst="rect">
            <a:avLst/>
          </a:prstGeom>
          <a:noFill/>
          <a:ln/>
        </p:spPr>
        <p:txBody>
          <a:bodyPr wrap="square" lIns="0" tIns="0" rIns="0" bIns="0" rtlCol="0" anchor="t"/>
          <a:lstStyle>
            <a:lvl1pPr algn="l" indent="0" marL="0">
              <a:lnSpc>
                <a:spcPct val="115000"/>
              </a:lnSpc>
              <a:buNone/>
              <a:defRPr lang="en-US" sz="3600" dirty="0">
                <a:solidFill>
                  <a:srgbClr val="14181F"/>
                </a:solidFill>
                <a:latin typeface="Georgia" pitchFamily="34" charset="0"/>
                <a:ea typeface="Georgia" pitchFamily="34" charset="-122"/>
                <a:cs typeface="Georgia" pitchFamily="34" charset="-120"/>
              </a:defRPr>
            </a:lvl1pPr>
          </a:lstStyle>
          <a:p>
            <a:pPr algn="l" indent="0" marL="0">
              <a:lnSpc>
                <a:spcPct val="115000"/>
              </a:lnSpc>
              <a:buNone/>
            </a:pPr>
            <a:endParaRPr lang="en-US" sz="3600" dirty="0"/>
          </a:p>
        </p:txBody>
      </p:sp>
      <p:sp>
        <p:nvSpPr>
          <p:cNvPr id="3" name="Text Placeholder 2"/>
          <p:cNvSpPr/>
          <p:nvPr>
            <p:ph idx="101" type="body"/>
          </p:nvPr>
        </p:nvSpPr>
        <p:spPr>
          <a:xfrm>
            <a:off x="812800" y="1884681"/>
            <a:ext cx="10566400" cy="4160519"/>
          </a:xfrm>
          <a:prstGeom prst="rect">
            <a:avLst/>
          </a:prstGeom>
          <a:noFill/>
          <a:ln/>
        </p:spPr>
        <p:txBody>
          <a:bodyPr wrap="square" lIns="0" tIns="0" rIns="0" bIns="0" rtlCol="0" anchor="t"/>
          <a:lstStyle>
            <a:lvl1pPr algn="l" indent="0" marL="0">
              <a:lnSpc>
                <a:spcPct val="140000"/>
              </a:lnSpc>
              <a:buNone/>
              <a:defRPr lang="en-US" sz="1600" dirty="0">
                <a:solidFill>
                  <a:srgbClr val="14181F"/>
                </a:solidFill>
                <a:latin typeface="Arial" pitchFamily="34" charset="0"/>
                <a:ea typeface="Arial" pitchFamily="34" charset="-122"/>
                <a:cs typeface="Arial" pitchFamily="34" charset="-120"/>
              </a:defRPr>
            </a:lvl1pPr>
          </a:lstStyle>
          <a:p>
            <a:pPr algn="l" indent="0" marL="0">
              <a:lnSpc>
                <a:spcPct val="140000"/>
              </a:lnSpc>
              <a:buNone/>
            </a:pPr>
            <a:endParaRPr lang="en-US" sz="1600"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Slide background 4">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itle Placeholder 1"/>
          <p:cNvSpPr/>
          <p:nvPr>
            <p:ph type="title"/>
          </p:nvPr>
        </p:nvSpPr>
        <p:spPr>
          <a:xfrm>
            <a:off x="812800" y="1076961"/>
            <a:ext cx="10566400" cy="502920"/>
          </a:xfrm>
          <a:prstGeom prst="rect">
            <a:avLst/>
          </a:prstGeom>
          <a:noFill/>
          <a:ln/>
        </p:spPr>
        <p:txBody>
          <a:bodyPr wrap="square" lIns="0" tIns="0" rIns="0" bIns="0" rtlCol="0" anchor="t"/>
          <a:lstStyle>
            <a:lvl1pPr algn="l" indent="0" marL="0">
              <a:lnSpc>
                <a:spcPct val="115000"/>
              </a:lnSpc>
              <a:buNone/>
              <a:defRPr lang="en-US" sz="3600" dirty="0">
                <a:solidFill>
                  <a:srgbClr val="14181F"/>
                </a:solidFill>
                <a:latin typeface="Georgia" pitchFamily="34" charset="0"/>
                <a:ea typeface="Georgia" pitchFamily="34" charset="-122"/>
                <a:cs typeface="Georgia" pitchFamily="34" charset="-120"/>
              </a:defRPr>
            </a:lvl1pPr>
          </a:lstStyle>
          <a:p>
            <a:pPr algn="l" indent="0" marL="0">
              <a:lnSpc>
                <a:spcPct val="115000"/>
              </a:lnSpc>
              <a:buNone/>
            </a:pPr>
            <a:endParaRPr lang="en-US" sz="3600" dirty="0"/>
          </a:p>
        </p:txBody>
      </p:sp>
      <p:sp>
        <p:nvSpPr>
          <p:cNvPr id="3" name="Text Placeholder 2"/>
          <p:cNvSpPr/>
          <p:nvPr>
            <p:ph idx="101" type="body"/>
          </p:nvPr>
        </p:nvSpPr>
        <p:spPr>
          <a:xfrm>
            <a:off x="812800" y="1884681"/>
            <a:ext cx="10566400" cy="4160519"/>
          </a:xfrm>
          <a:prstGeom prst="rect">
            <a:avLst/>
          </a:prstGeom>
          <a:noFill/>
          <a:ln/>
        </p:spPr>
        <p:txBody>
          <a:bodyPr wrap="square" lIns="0" tIns="0" rIns="0" bIns="0" rtlCol="0" anchor="t"/>
          <a:lstStyle>
            <a:lvl1pPr algn="l" indent="0" marL="0">
              <a:lnSpc>
                <a:spcPct val="140000"/>
              </a:lnSpc>
              <a:buNone/>
              <a:defRPr lang="en-US" sz="1600" dirty="0">
                <a:solidFill>
                  <a:srgbClr val="14181F"/>
                </a:solidFill>
                <a:latin typeface="Arial" pitchFamily="34" charset="0"/>
                <a:ea typeface="Arial" pitchFamily="34" charset="-122"/>
                <a:cs typeface="Arial" pitchFamily="34" charset="-120"/>
              </a:defRPr>
            </a:lvl1pPr>
          </a:lstStyle>
          <a:p>
            <a:pPr algn="l" indent="0" marL="0">
              <a:lnSpc>
                <a:spcPct val="140000"/>
              </a:lnSpc>
              <a:buNone/>
            </a:pPr>
            <a:endParaRPr lang="en-US" sz="1600"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Slide background 5">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itle Placeholder 1"/>
          <p:cNvSpPr/>
          <p:nvPr>
            <p:ph type="title"/>
          </p:nvPr>
        </p:nvSpPr>
        <p:spPr>
          <a:xfrm>
            <a:off x="812800" y="1076961"/>
            <a:ext cx="10566400" cy="502920"/>
          </a:xfrm>
          <a:prstGeom prst="rect">
            <a:avLst/>
          </a:prstGeom>
          <a:noFill/>
          <a:ln/>
        </p:spPr>
        <p:txBody>
          <a:bodyPr wrap="square" lIns="0" tIns="0" rIns="0" bIns="0" rtlCol="0" anchor="t"/>
          <a:lstStyle>
            <a:lvl1pPr algn="l" indent="0" marL="0">
              <a:lnSpc>
                <a:spcPct val="115000"/>
              </a:lnSpc>
              <a:buNone/>
              <a:defRPr lang="en-US" sz="3600" dirty="0">
                <a:solidFill>
                  <a:srgbClr val="14181F"/>
                </a:solidFill>
                <a:latin typeface="Georgia" pitchFamily="34" charset="0"/>
                <a:ea typeface="Georgia" pitchFamily="34" charset="-122"/>
                <a:cs typeface="Georgia" pitchFamily="34" charset="-120"/>
              </a:defRPr>
            </a:lvl1pPr>
          </a:lstStyle>
          <a:p>
            <a:pPr algn="l" indent="0" marL="0">
              <a:lnSpc>
                <a:spcPct val="115000"/>
              </a:lnSpc>
              <a:buNone/>
            </a:pPr>
            <a:endParaRPr lang="en-US" sz="3600" dirty="0"/>
          </a:p>
        </p:txBody>
      </p:sp>
      <p:sp>
        <p:nvSpPr>
          <p:cNvPr id="3" name="Text Placeholder 2"/>
          <p:cNvSpPr/>
          <p:nvPr>
            <p:ph idx="101" type="body"/>
          </p:nvPr>
        </p:nvSpPr>
        <p:spPr>
          <a:xfrm>
            <a:off x="812800" y="1884681"/>
            <a:ext cx="10566400" cy="4160519"/>
          </a:xfrm>
          <a:prstGeom prst="rect">
            <a:avLst/>
          </a:prstGeom>
          <a:noFill/>
          <a:ln/>
        </p:spPr>
        <p:txBody>
          <a:bodyPr wrap="square" lIns="0" tIns="0" rIns="0" bIns="0" rtlCol="0" anchor="t"/>
          <a:lstStyle>
            <a:lvl1pPr algn="l" indent="0" marL="0">
              <a:lnSpc>
                <a:spcPct val="140000"/>
              </a:lnSpc>
              <a:buNone/>
              <a:defRPr lang="en-US" sz="1600" dirty="0">
                <a:solidFill>
                  <a:srgbClr val="14181F"/>
                </a:solidFill>
                <a:latin typeface="Arial" pitchFamily="34" charset="0"/>
                <a:ea typeface="Arial" pitchFamily="34" charset="-122"/>
                <a:cs typeface="Arial" pitchFamily="34" charset="-120"/>
              </a:defRPr>
            </a:lvl1pPr>
          </a:lstStyle>
          <a:p>
            <a:pPr algn="l" indent="0" marL="0">
              <a:lnSpc>
                <a:spcPct val="140000"/>
              </a:lnSpc>
              <a:buNone/>
            </a:pPr>
            <a:endParaRPr lang="en-US" sz="1600"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Slide background 6">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itle Placeholder 1"/>
          <p:cNvSpPr/>
          <p:nvPr>
            <p:ph type="title"/>
          </p:nvPr>
        </p:nvSpPr>
        <p:spPr>
          <a:xfrm>
            <a:off x="812800" y="1076961"/>
            <a:ext cx="10566400" cy="502920"/>
          </a:xfrm>
          <a:prstGeom prst="rect">
            <a:avLst/>
          </a:prstGeom>
          <a:noFill/>
          <a:ln/>
        </p:spPr>
        <p:txBody>
          <a:bodyPr wrap="square" lIns="0" tIns="0" rIns="0" bIns="0" rtlCol="0" anchor="t"/>
          <a:lstStyle>
            <a:lvl1pPr algn="l" indent="0" marL="0">
              <a:lnSpc>
                <a:spcPct val="115000"/>
              </a:lnSpc>
              <a:buNone/>
              <a:defRPr lang="en-US" sz="3600" dirty="0">
                <a:solidFill>
                  <a:srgbClr val="14181F"/>
                </a:solidFill>
                <a:latin typeface="Georgia" pitchFamily="34" charset="0"/>
                <a:ea typeface="Georgia" pitchFamily="34" charset="-122"/>
                <a:cs typeface="Georgia" pitchFamily="34" charset="-120"/>
              </a:defRPr>
            </a:lvl1pPr>
          </a:lstStyle>
          <a:p>
            <a:pPr algn="l" indent="0" marL="0">
              <a:lnSpc>
                <a:spcPct val="115000"/>
              </a:lnSpc>
              <a:buNone/>
            </a:pPr>
            <a:endParaRPr lang="en-US" sz="3600" dirty="0"/>
          </a:p>
        </p:txBody>
      </p:sp>
      <p:sp>
        <p:nvSpPr>
          <p:cNvPr id="3" name="Text Placeholder 2"/>
          <p:cNvSpPr/>
          <p:nvPr>
            <p:ph idx="101" type="body"/>
          </p:nvPr>
        </p:nvSpPr>
        <p:spPr>
          <a:xfrm>
            <a:off x="812800" y="1884681"/>
            <a:ext cx="10566400" cy="4160519"/>
          </a:xfrm>
          <a:prstGeom prst="rect">
            <a:avLst/>
          </a:prstGeom>
          <a:noFill/>
          <a:ln/>
        </p:spPr>
        <p:txBody>
          <a:bodyPr wrap="square" lIns="0" tIns="0" rIns="0" bIns="0" rtlCol="0" anchor="t"/>
          <a:lstStyle>
            <a:lvl1pPr algn="l" indent="0" marL="0">
              <a:lnSpc>
                <a:spcPct val="140000"/>
              </a:lnSpc>
              <a:buNone/>
              <a:defRPr lang="en-US" sz="1600" dirty="0">
                <a:solidFill>
                  <a:srgbClr val="14181F"/>
                </a:solidFill>
                <a:latin typeface="Arial" pitchFamily="34" charset="0"/>
                <a:ea typeface="Arial" pitchFamily="34" charset="-122"/>
                <a:cs typeface="Arial" pitchFamily="34" charset="-120"/>
              </a:defRPr>
            </a:lvl1pPr>
          </a:lstStyle>
          <a:p>
            <a:pPr algn="l" indent="0" marL="0">
              <a:lnSpc>
                <a:spcPct val="140000"/>
              </a:lnSpc>
              <a:buNone/>
            </a:pPr>
            <a:endParaRPr lang="en-US" sz="1600"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Slide background 7">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itle Placeholder 1"/>
          <p:cNvSpPr/>
          <p:nvPr>
            <p:ph type="title"/>
          </p:nvPr>
        </p:nvSpPr>
        <p:spPr>
          <a:xfrm>
            <a:off x="812800" y="1076961"/>
            <a:ext cx="10566400" cy="502920"/>
          </a:xfrm>
          <a:prstGeom prst="rect">
            <a:avLst/>
          </a:prstGeom>
          <a:noFill/>
          <a:ln/>
        </p:spPr>
        <p:txBody>
          <a:bodyPr wrap="square" lIns="0" tIns="0" rIns="0" bIns="0" rtlCol="0" anchor="t"/>
          <a:lstStyle>
            <a:lvl1pPr algn="l" indent="0" marL="0">
              <a:lnSpc>
                <a:spcPct val="115000"/>
              </a:lnSpc>
              <a:buNone/>
              <a:defRPr lang="en-US" sz="3600" dirty="0">
                <a:solidFill>
                  <a:srgbClr val="14181F"/>
                </a:solidFill>
                <a:latin typeface="Georgia" pitchFamily="34" charset="0"/>
                <a:ea typeface="Georgia" pitchFamily="34" charset="-122"/>
                <a:cs typeface="Georgia" pitchFamily="34" charset="-120"/>
              </a:defRPr>
            </a:lvl1pPr>
          </a:lstStyle>
          <a:p>
            <a:pPr algn="l" indent="0" marL="0">
              <a:lnSpc>
                <a:spcPct val="115000"/>
              </a:lnSpc>
              <a:buNone/>
            </a:pPr>
            <a:endParaRPr lang="en-US" sz="3600" dirty="0"/>
          </a:p>
        </p:txBody>
      </p:sp>
      <p:sp>
        <p:nvSpPr>
          <p:cNvPr id="3" name="Text Placeholder 2"/>
          <p:cNvSpPr/>
          <p:nvPr>
            <p:ph idx="101" type="body"/>
          </p:nvPr>
        </p:nvSpPr>
        <p:spPr>
          <a:xfrm>
            <a:off x="812800" y="1884681"/>
            <a:ext cx="10566400" cy="4160519"/>
          </a:xfrm>
          <a:prstGeom prst="rect">
            <a:avLst/>
          </a:prstGeom>
          <a:noFill/>
          <a:ln/>
        </p:spPr>
        <p:txBody>
          <a:bodyPr wrap="square" lIns="0" tIns="0" rIns="0" bIns="0" rtlCol="0" anchor="t"/>
          <a:lstStyle>
            <a:lvl1pPr algn="l" indent="0" marL="0">
              <a:lnSpc>
                <a:spcPct val="140000"/>
              </a:lnSpc>
              <a:buNone/>
              <a:defRPr lang="en-US" sz="1600" dirty="0">
                <a:solidFill>
                  <a:srgbClr val="14181F"/>
                </a:solidFill>
                <a:latin typeface="Arial" pitchFamily="34" charset="0"/>
                <a:ea typeface="Arial" pitchFamily="34" charset="-122"/>
                <a:cs typeface="Arial" pitchFamily="34" charset="-120"/>
              </a:defRPr>
            </a:lvl1pPr>
          </a:lstStyle>
          <a:p>
            <a:pPr algn="l" indent="0" marL="0">
              <a:lnSpc>
                <a:spcPct val="140000"/>
              </a:lnSpc>
              <a:buNone/>
            </a:pPr>
            <a:endParaRPr lang="en-US" sz="1600"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Slide background 8">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itle Placeholder 1"/>
          <p:cNvSpPr/>
          <p:nvPr>
            <p:ph type="title"/>
          </p:nvPr>
        </p:nvSpPr>
        <p:spPr>
          <a:xfrm>
            <a:off x="812800" y="1076961"/>
            <a:ext cx="10566400" cy="502920"/>
          </a:xfrm>
          <a:prstGeom prst="rect">
            <a:avLst/>
          </a:prstGeom>
          <a:noFill/>
          <a:ln/>
        </p:spPr>
        <p:txBody>
          <a:bodyPr wrap="square" lIns="0" tIns="0" rIns="0" bIns="0" rtlCol="0" anchor="t"/>
          <a:lstStyle>
            <a:lvl1pPr algn="l" indent="0" marL="0">
              <a:lnSpc>
                <a:spcPct val="115000"/>
              </a:lnSpc>
              <a:buNone/>
              <a:defRPr lang="en-US" sz="3600" dirty="0">
                <a:solidFill>
                  <a:srgbClr val="14181F"/>
                </a:solidFill>
                <a:latin typeface="Georgia" pitchFamily="34" charset="0"/>
                <a:ea typeface="Georgia" pitchFamily="34" charset="-122"/>
                <a:cs typeface="Georgia" pitchFamily="34" charset="-120"/>
              </a:defRPr>
            </a:lvl1pPr>
          </a:lstStyle>
          <a:p>
            <a:pPr algn="l" indent="0" marL="0">
              <a:lnSpc>
                <a:spcPct val="115000"/>
              </a:lnSpc>
              <a:buNone/>
            </a:pPr>
            <a:endParaRPr lang="en-US" sz="3600" dirty="0"/>
          </a:p>
        </p:txBody>
      </p:sp>
      <p:sp>
        <p:nvSpPr>
          <p:cNvPr id="3" name="Text Placeholder 2"/>
          <p:cNvSpPr/>
          <p:nvPr>
            <p:ph idx="101" type="body"/>
          </p:nvPr>
        </p:nvSpPr>
        <p:spPr>
          <a:xfrm>
            <a:off x="812800" y="1884681"/>
            <a:ext cx="10566400" cy="4160519"/>
          </a:xfrm>
          <a:prstGeom prst="rect">
            <a:avLst/>
          </a:prstGeom>
          <a:noFill/>
          <a:ln/>
        </p:spPr>
        <p:txBody>
          <a:bodyPr wrap="square" lIns="0" tIns="0" rIns="0" bIns="0" rtlCol="0" anchor="t"/>
          <a:lstStyle>
            <a:lvl1pPr algn="l" indent="0" marL="0">
              <a:lnSpc>
                <a:spcPct val="140000"/>
              </a:lnSpc>
              <a:buNone/>
              <a:defRPr lang="en-US" sz="1600" dirty="0">
                <a:solidFill>
                  <a:srgbClr val="14181F"/>
                </a:solidFill>
                <a:latin typeface="Arial" pitchFamily="34" charset="0"/>
                <a:ea typeface="Arial" pitchFamily="34" charset="-122"/>
                <a:cs typeface="Arial" pitchFamily="34" charset="-120"/>
              </a:defRPr>
            </a:lvl1pPr>
          </a:lstStyle>
          <a:p>
            <a:pPr algn="l" indent="0" marL="0">
              <a:lnSpc>
                <a:spcPct val="140000"/>
              </a:lnSpc>
              <a:buNone/>
            </a:pPr>
            <a:endParaRPr lang="en-US" sz="1600"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Slide background 9">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itle Placeholder 1"/>
          <p:cNvSpPr/>
          <p:nvPr>
            <p:ph type="title"/>
          </p:nvPr>
        </p:nvSpPr>
        <p:spPr>
          <a:xfrm>
            <a:off x="812800" y="1076961"/>
            <a:ext cx="10566400" cy="502920"/>
          </a:xfrm>
          <a:prstGeom prst="rect">
            <a:avLst/>
          </a:prstGeom>
          <a:noFill/>
          <a:ln/>
        </p:spPr>
        <p:txBody>
          <a:bodyPr wrap="square" lIns="0" tIns="0" rIns="0" bIns="0" rtlCol="0" anchor="t"/>
          <a:lstStyle>
            <a:lvl1pPr algn="l" indent="0" marL="0">
              <a:lnSpc>
                <a:spcPct val="115000"/>
              </a:lnSpc>
              <a:buNone/>
              <a:defRPr lang="en-US" sz="3600" dirty="0">
                <a:solidFill>
                  <a:srgbClr val="14181F"/>
                </a:solidFill>
                <a:latin typeface="Georgia" pitchFamily="34" charset="0"/>
                <a:ea typeface="Georgia" pitchFamily="34" charset="-122"/>
                <a:cs typeface="Georgia" pitchFamily="34" charset="-120"/>
              </a:defRPr>
            </a:lvl1pPr>
          </a:lstStyle>
          <a:p>
            <a:pPr algn="l" indent="0" marL="0">
              <a:lnSpc>
                <a:spcPct val="115000"/>
              </a:lnSpc>
              <a:buNone/>
            </a:pPr>
            <a:endParaRPr lang="en-US" sz="3600" dirty="0"/>
          </a:p>
        </p:txBody>
      </p:sp>
      <p:sp>
        <p:nvSpPr>
          <p:cNvPr id="3" name="Text Placeholder 2"/>
          <p:cNvSpPr/>
          <p:nvPr>
            <p:ph idx="101" type="body"/>
          </p:nvPr>
        </p:nvSpPr>
        <p:spPr>
          <a:xfrm>
            <a:off x="812800" y="1884681"/>
            <a:ext cx="10566400" cy="4160519"/>
          </a:xfrm>
          <a:prstGeom prst="rect">
            <a:avLst/>
          </a:prstGeom>
          <a:noFill/>
          <a:ln/>
        </p:spPr>
        <p:txBody>
          <a:bodyPr wrap="square" lIns="0" tIns="0" rIns="0" bIns="0" rtlCol="0" anchor="t"/>
          <a:lstStyle>
            <a:lvl1pPr algn="l" indent="0" marL="0">
              <a:lnSpc>
                <a:spcPct val="140000"/>
              </a:lnSpc>
              <a:buNone/>
              <a:defRPr lang="en-US" sz="1600" dirty="0">
                <a:solidFill>
                  <a:srgbClr val="14181F"/>
                </a:solidFill>
                <a:latin typeface="Arial" pitchFamily="34" charset="0"/>
                <a:ea typeface="Arial" pitchFamily="34" charset="-122"/>
                <a:cs typeface="Arial" pitchFamily="34" charset="-120"/>
              </a:defRPr>
            </a:lvl1pPr>
          </a:lstStyle>
          <a:p>
            <a:pPr algn="l" indent="0" marL="0">
              <a:lnSpc>
                <a:spcPct val="140000"/>
              </a:lnSpc>
              <a:buNone/>
            </a:pPr>
            <a:endParaRPr lang="en-US" sz="16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D5ECE8"/>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1076961"/>
            <a:ext cx="10566400" cy="502920"/>
          </a:xfrm>
          <a:prstGeom prst="rect">
            <a:avLst/>
          </a:prstGeom>
          <a:noFill/>
          <a:ln/>
        </p:spPr>
        <p:txBody>
          <a:bodyPr wrap="square" lIns="0" tIns="0" rIns="0" bIns="0" rtlCol="0" anchor="t"/>
          <a:lstStyle>
            <a:lvl1pPr algn="l" indent="0" marL="0">
              <a:lnSpc>
                <a:spcPct val="115000"/>
              </a:lnSpc>
              <a:buNone/>
              <a:defRPr lang="en-US" sz="3600" dirty="0">
                <a:solidFill>
                  <a:srgbClr val="14181F"/>
                </a:solidFill>
                <a:latin typeface="Georgia" pitchFamily="34" charset="0"/>
                <a:ea typeface="Georgia" pitchFamily="34" charset="-122"/>
                <a:cs typeface="Georgia" pitchFamily="34" charset="-120"/>
              </a:defRPr>
            </a:lvl1pPr>
          </a:lstStyle>
          <a:p>
            <a:pPr algn="l" indent="0" marL="0">
              <a:lnSpc>
                <a:spcPct val="115000"/>
              </a:lnSpc>
              <a:buNone/>
            </a:pPr>
            <a:endParaRPr lang="en-US" sz="3600" dirty="0"/>
          </a:p>
        </p:txBody>
      </p:sp>
      <p:sp>
        <p:nvSpPr>
          <p:cNvPr id="3" name="Text Placeholder 2"/>
          <p:cNvSpPr/>
          <p:nvPr>
            <p:ph idx="101" type="body"/>
          </p:nvPr>
        </p:nvSpPr>
        <p:spPr>
          <a:xfrm>
            <a:off x="812800" y="1884681"/>
            <a:ext cx="10566400" cy="4160519"/>
          </a:xfrm>
          <a:prstGeom prst="rect">
            <a:avLst/>
          </a:prstGeom>
          <a:noFill/>
          <a:ln/>
        </p:spPr>
        <p:txBody>
          <a:bodyPr wrap="square" lIns="0" tIns="0" rIns="0" bIns="0" rtlCol="0" anchor="t"/>
          <a:lstStyle>
            <a:lvl1pPr algn="l" indent="0" marL="0">
              <a:lnSpc>
                <a:spcPct val="140000"/>
              </a:lnSpc>
              <a:buNone/>
              <a:defRPr lang="en-US" sz="1600" dirty="0">
                <a:solidFill>
                  <a:srgbClr val="14181F"/>
                </a:solidFill>
                <a:latin typeface="Arial" pitchFamily="34" charset="0"/>
                <a:ea typeface="Arial" pitchFamily="34" charset="-122"/>
                <a:cs typeface="Arial" pitchFamily="34" charset="-120"/>
              </a:defRPr>
            </a:lvl1pPr>
          </a:lstStyle>
          <a:p>
            <a:pPr algn="l" indent="0" marL="0">
              <a:lnSpc>
                <a:spcPct val="140000"/>
              </a:lnSpc>
              <a:buNone/>
            </a:pPr>
            <a:endParaRPr lang="en-US" sz="1600"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slideLayout" Target="../slideLayouts/slideLayout3.xml"/><Relationship Id="rId5"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slideLayout" Target="../slideLayouts/slideLayout4.xml"/><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slideLayout" Target="../slideLayouts/slideLayout5.xml"/><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slideLayout" Target="../slideLayouts/slideLayout6.xm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slideLayout" Target="../slideLayouts/slideLayout7.xml"/><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slideLayout" Target="../slideLayouts/slideLayout8.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slideLayout" Target="../slideLayouts/slideLayout9.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slideLayout" Target="../slideLayouts/slideLayout10.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image" Target="../media/image-9-5.png"/><Relationship Id="rId6" Type="http://schemas.openxmlformats.org/officeDocument/2006/relationships/image" Target="../media/image-9-6.png"/><Relationship Id="rId7" Type="http://schemas.openxmlformats.org/officeDocument/2006/relationships/slideLayout" Target="../slideLayouts/slideLayout9.xml"/><Relationship Id="rId8"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slideLayout" Target="../slideLayouts/slideLayout11.xml"/><Relationship Id="rId5"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Sparkle ornament">    </p:cNvPr>
          <p:cNvPicPr>
            <a:picLocks noChangeAspect="1"/>
          </p:cNvPicPr>
          <p:nvPr/>
        </p:nvPicPr>
        <p:blipFill>
          <a:blip r:embed="rId1"/>
          <a:srcRect l="0" r="0" t="0" b="0"/>
          <a:stretch/>
        </p:blipFill>
        <p:spPr>
          <a:xfrm>
            <a:off x="10795000" y="812800"/>
            <a:ext cx="304800" cy="304800"/>
          </a:xfrm>
          <a:prstGeom prst="rect">
            <a:avLst/>
          </a:prstGeom>
        </p:spPr>
      </p:pic>
      <p:sp>
        <p:nvSpPr>
          <p:cNvPr id="3" name="Shape 0"/>
          <p:cNvSpPr/>
          <p:nvPr/>
        </p:nvSpPr>
        <p:spPr>
          <a:xfrm>
            <a:off x="11112500" y="1270000"/>
            <a:ext cx="12700" cy="1397000"/>
          </a:xfrm>
          <a:prstGeom prst="rect">
            <a:avLst/>
          </a:prstGeom>
          <a:solidFill>
            <a:srgbClr val="14181F"/>
          </a:solidFill>
          <a:ln/>
        </p:spPr>
      </p:sp>
      <p:pic>
        <p:nvPicPr>
          <p:cNvPr id="4" name="Image 1" descr="line">    </p:cNvPr>
          <p:cNvPicPr>
            <a:picLocks noChangeAspect="1"/>
          </p:cNvPicPr>
          <p:nvPr/>
        </p:nvPicPr>
        <p:blipFill>
          <a:blip r:embed="rId2"/>
          <a:srcRect l="0" r="0" t="-3333" b="-3333"/>
          <a:stretch/>
        </p:blipFill>
        <p:spPr>
          <a:xfrm>
            <a:off x="812800" y="5715000"/>
            <a:ext cx="2286000" cy="20320"/>
          </a:xfrm>
          <a:prstGeom prst="rect">
            <a:avLst/>
          </a:prstGeom>
        </p:spPr>
      </p:pic>
      <p:pic>
        <p:nvPicPr>
          <p:cNvPr id="5" name="Image 2" descr="Sparkle ornament">    </p:cNvPr>
          <p:cNvPicPr>
            <a:picLocks noChangeAspect="1"/>
          </p:cNvPicPr>
          <p:nvPr/>
        </p:nvPicPr>
        <p:blipFill>
          <a:blip r:embed="rId3"/>
          <a:srcRect l="0" r="0" t="0" b="0"/>
          <a:stretch/>
        </p:blipFill>
        <p:spPr>
          <a:xfrm>
            <a:off x="3175000" y="5568950"/>
            <a:ext cx="304800" cy="304800"/>
          </a:xfrm>
          <a:prstGeom prst="rect">
            <a:avLst/>
          </a:prstGeom>
        </p:spPr>
      </p:pic>
      <p:sp>
        <p:nvSpPr>
          <p:cNvPr id="6" name="Text 1"/>
          <p:cNvSpPr/>
          <p:nvPr/>
        </p:nvSpPr>
        <p:spPr>
          <a:xfrm>
            <a:off x="3749040" y="1163320"/>
            <a:ext cx="4693920" cy="274320"/>
          </a:xfrm>
          <a:prstGeom prst="rect">
            <a:avLst/>
          </a:prstGeom>
          <a:noFill/>
          <a:ln/>
        </p:spPr>
        <p:txBody>
          <a:bodyPr wrap="square" lIns="0" tIns="0" rIns="0" bIns="0" rtlCol="0" anchor="t">
            <a:normAutofit/>
          </a:bodyPr>
          <a:lstStyle/>
          <a:p>
            <a:pPr algn="ctr" indent="0" marL="0">
              <a:lnSpc>
                <a:spcPts val="1960"/>
              </a:lnSpc>
              <a:buNone/>
            </a:pPr>
            <a:r>
              <a:rPr lang="en-US" sz="1400" spc="400" kern="0" dirty="0">
                <a:solidFill>
                  <a:srgbClr val="2B3340"/>
                </a:solidFill>
                <a:latin typeface="Arial" pitchFamily="34" charset="0"/>
                <a:ea typeface="Arial" pitchFamily="34" charset="-122"/>
                <a:cs typeface="Arial" pitchFamily="34" charset="-120"/>
              </a:rPr>
              <a:t>JAVA PROGRAMMING PROJECT</a:t>
            </a:r>
            <a:endParaRPr lang="en-US" sz="1400" dirty="0"/>
          </a:p>
        </p:txBody>
      </p:sp>
      <p:sp>
        <p:nvSpPr>
          <p:cNvPr id="7" name="Text 2"/>
          <p:cNvSpPr/>
          <p:nvPr>
            <p:ph type="title"/>
          </p:nvPr>
        </p:nvSpPr>
        <p:spPr>
          <a:xfrm>
            <a:off x="3776472" y="1590040"/>
            <a:ext cx="4639056" cy="1092200"/>
          </a:xfrm>
          <a:prstGeom prst="rect">
            <a:avLst/>
          </a:prstGeom>
          <a:noFill/>
          <a:ln/>
        </p:spPr>
        <p:txBody>
          <a:bodyPr wrap="square" lIns="0" tIns="0" rIns="0" bIns="0" rtlCol="0" anchor="t">
            <a:normAutofit/>
          </a:bodyPr>
          <a:lstStyle/>
          <a:p>
            <a:pPr algn="ctr" indent="0" marL="0">
              <a:lnSpc>
                <a:spcPts val="8400"/>
              </a:lnSpc>
              <a:buNone/>
            </a:pPr>
            <a:r>
              <a:rPr lang="en-US" sz="8000" b="0" i="0" spc="500" kern="0" dirty="0">
                <a:solidFill>
                  <a:srgbClr val="14181F"/>
                </a:solidFill>
                <a:latin typeface="Georgia" pitchFamily="18" charset="0"/>
                <a:ea typeface="Georgia" pitchFamily="18" charset="-122"/>
                <a:cs typeface="Georgia" pitchFamily="18" charset="-120"/>
              </a:rPr>
              <a:t>CLINIC</a:t>
            </a:r>
            <a:endParaRPr lang="en-US" sz="8000" dirty="0"/>
          </a:p>
        </p:txBody>
      </p:sp>
      <p:sp>
        <p:nvSpPr>
          <p:cNvPr id="8" name="Text 3"/>
          <p:cNvSpPr/>
          <p:nvPr/>
        </p:nvSpPr>
        <p:spPr>
          <a:xfrm>
            <a:off x="2141220" y="2834640"/>
            <a:ext cx="7909560" cy="434340"/>
          </a:xfrm>
          <a:prstGeom prst="rect">
            <a:avLst/>
          </a:prstGeom>
          <a:noFill/>
          <a:ln/>
        </p:spPr>
        <p:txBody>
          <a:bodyPr wrap="square" lIns="0" tIns="0" rIns="0" bIns="0" rtlCol="0" anchor="t">
            <a:normAutofit/>
          </a:bodyPr>
          <a:lstStyle/>
          <a:p>
            <a:pPr algn="ctr" indent="0" marL="0">
              <a:lnSpc>
                <a:spcPts val="3220"/>
              </a:lnSpc>
              <a:buNone/>
            </a:pPr>
            <a:r>
              <a:rPr lang="en-US" sz="2800" spc="150" kern="0" dirty="0">
                <a:solidFill>
                  <a:srgbClr val="14181F"/>
                </a:solidFill>
                <a:latin typeface="Georgia" pitchFamily="18" charset="0"/>
                <a:ea typeface="Georgia" pitchFamily="18" charset="-122"/>
                <a:cs typeface="Georgia" pitchFamily="18" charset="-120"/>
              </a:rPr>
              <a:t>Appointment &amp; Prescription Manager</a:t>
            </a:r>
            <a:endParaRPr lang="en-US" sz="2800" dirty="0"/>
          </a:p>
        </p:txBody>
      </p:sp>
      <p:sp>
        <p:nvSpPr>
          <p:cNvPr id="9" name="Text 4"/>
          <p:cNvSpPr/>
          <p:nvPr/>
        </p:nvSpPr>
        <p:spPr>
          <a:xfrm>
            <a:off x="3188208" y="3421380"/>
            <a:ext cx="5815584" cy="309880"/>
          </a:xfrm>
          <a:prstGeom prst="rect">
            <a:avLst/>
          </a:prstGeom>
          <a:noFill/>
          <a:ln/>
        </p:spPr>
        <p:txBody>
          <a:bodyPr wrap="square" lIns="0" tIns="0" rIns="0" bIns="0" rtlCol="0" anchor="t">
            <a:normAutofit/>
          </a:bodyPr>
          <a:lstStyle/>
          <a:p>
            <a:pPr algn="ctr" indent="0" marL="0">
              <a:lnSpc>
                <a:spcPts val="2240"/>
              </a:lnSpc>
              <a:buNone/>
            </a:pPr>
            <a:r>
              <a:rPr lang="en-US" sz="1600" dirty="0">
                <a:solidFill>
                  <a:srgbClr val="2B3340"/>
                </a:solidFill>
                <a:latin typeface="Arial" pitchFamily="34" charset="0"/>
                <a:ea typeface="Arial" pitchFamily="34" charset="-122"/>
                <a:cs typeface="Arial" pitchFamily="34" charset="-120"/>
              </a:rPr>
              <a:t>From computational thinking to collections and streams</a:t>
            </a:r>
            <a:endParaRPr lang="en-US" sz="1600" dirty="0"/>
          </a:p>
        </p:txBody>
      </p:sp>
      <p:sp>
        <p:nvSpPr>
          <p:cNvPr id="10" name="Text 5"/>
          <p:cNvSpPr/>
          <p:nvPr/>
        </p:nvSpPr>
        <p:spPr>
          <a:xfrm>
            <a:off x="5081016" y="4112260"/>
            <a:ext cx="2029968" cy="238760"/>
          </a:xfrm>
          <a:prstGeom prst="rect">
            <a:avLst/>
          </a:prstGeom>
          <a:noFill/>
          <a:ln/>
        </p:spPr>
        <p:txBody>
          <a:bodyPr wrap="square" lIns="0" tIns="0" rIns="0" bIns="0" rtlCol="0" anchor="t">
            <a:normAutofit/>
          </a:bodyPr>
          <a:lstStyle/>
          <a:p>
            <a:pPr algn="ctr" indent="0" marL="0">
              <a:lnSpc>
                <a:spcPts val="1680"/>
              </a:lnSpc>
              <a:buNone/>
            </a:pPr>
            <a:r>
              <a:rPr lang="en-US" sz="1200" spc="300" kern="0" dirty="0">
                <a:solidFill>
                  <a:srgbClr val="4A5565"/>
                </a:solidFill>
                <a:latin typeface="Arial" pitchFamily="34" charset="0"/>
                <a:ea typeface="Arial" pitchFamily="34" charset="-122"/>
                <a:cs typeface="Arial" pitchFamily="34" charset="-120"/>
              </a:rPr>
              <a:t>TEAM MEMBERS</a:t>
            </a:r>
            <a:endParaRPr lang="en-US" sz="1200" dirty="0"/>
          </a:p>
        </p:txBody>
      </p:sp>
      <p:sp>
        <p:nvSpPr>
          <p:cNvPr id="11" name="Text 6"/>
          <p:cNvSpPr/>
          <p:nvPr/>
        </p:nvSpPr>
        <p:spPr>
          <a:xfrm>
            <a:off x="3950208" y="4389120"/>
            <a:ext cx="4291584" cy="292100"/>
          </a:xfrm>
          <a:prstGeom prst="rect">
            <a:avLst/>
          </a:prstGeom>
          <a:noFill/>
          <a:ln/>
        </p:spPr>
        <p:txBody>
          <a:bodyPr wrap="square" lIns="0" tIns="0" rIns="0" bIns="0" rtlCol="0" anchor="t">
            <a:normAutofit/>
          </a:bodyPr>
          <a:lstStyle/>
          <a:p>
            <a:pPr algn="ctr" indent="0" marL="0">
              <a:lnSpc>
                <a:spcPts val="2100"/>
              </a:lnSpc>
              <a:buNone/>
            </a:pPr>
            <a:r>
              <a:rPr lang="en-US" sz="1500" dirty="0">
                <a:solidFill>
                  <a:srgbClr val="14181F"/>
                </a:solidFill>
                <a:latin typeface="Arial" pitchFamily="34" charset="0"/>
                <a:ea typeface="Arial" pitchFamily="34" charset="-122"/>
                <a:cs typeface="Arial" pitchFamily="34" charset="-120"/>
              </a:rPr>
              <a:t>Varanasi Pranavi - 2620080126 (AI &amp; DS)</a:t>
            </a:r>
            <a:endParaRPr lang="en-US" sz="1500" dirty="0"/>
          </a:p>
        </p:txBody>
      </p:sp>
      <p:sp>
        <p:nvSpPr>
          <p:cNvPr id="12" name="Text 7"/>
          <p:cNvSpPr/>
          <p:nvPr/>
        </p:nvSpPr>
        <p:spPr>
          <a:xfrm>
            <a:off x="4166616" y="4719320"/>
            <a:ext cx="3858768" cy="292100"/>
          </a:xfrm>
          <a:prstGeom prst="rect">
            <a:avLst/>
          </a:prstGeom>
          <a:noFill/>
          <a:ln/>
        </p:spPr>
        <p:txBody>
          <a:bodyPr wrap="square" lIns="0" tIns="0" rIns="0" bIns="0" rtlCol="0" anchor="t">
            <a:normAutofit/>
          </a:bodyPr>
          <a:lstStyle/>
          <a:p>
            <a:pPr algn="ctr" indent="0" marL="0">
              <a:lnSpc>
                <a:spcPts val="2100"/>
              </a:lnSpc>
              <a:buNone/>
            </a:pPr>
            <a:r>
              <a:rPr lang="en-US" sz="1500" dirty="0">
                <a:solidFill>
                  <a:srgbClr val="14181F"/>
                </a:solidFill>
                <a:latin typeface="Arial" pitchFamily="34" charset="0"/>
                <a:ea typeface="Arial" pitchFamily="34" charset="-122"/>
                <a:cs typeface="Arial" pitchFamily="34" charset="-120"/>
              </a:rPr>
              <a:t>Kunku Abhinaya - 2620030366 (CSE)</a:t>
            </a:r>
            <a:endParaRPr lang="en-US" sz="1500" dirty="0"/>
          </a:p>
        </p:txBody>
      </p:sp>
      <p:sp>
        <p:nvSpPr>
          <p:cNvPr id="13" name="Text 8"/>
          <p:cNvSpPr/>
          <p:nvPr/>
        </p:nvSpPr>
        <p:spPr>
          <a:xfrm>
            <a:off x="5533644" y="5151120"/>
            <a:ext cx="1124712" cy="238760"/>
          </a:xfrm>
          <a:prstGeom prst="rect">
            <a:avLst/>
          </a:prstGeom>
          <a:noFill/>
          <a:ln/>
        </p:spPr>
        <p:txBody>
          <a:bodyPr wrap="square" lIns="0" tIns="0" rIns="0" bIns="0" rtlCol="0" anchor="t">
            <a:normAutofit/>
          </a:bodyPr>
          <a:lstStyle/>
          <a:p>
            <a:pPr algn="ctr" indent="0" marL="0">
              <a:lnSpc>
                <a:spcPts val="1680"/>
              </a:lnSpc>
              <a:buNone/>
            </a:pPr>
            <a:r>
              <a:rPr lang="en-US" sz="1200" spc="300" kern="0" dirty="0">
                <a:solidFill>
                  <a:srgbClr val="4A5565"/>
                </a:solidFill>
                <a:latin typeface="Arial" pitchFamily="34" charset="0"/>
                <a:ea typeface="Arial" pitchFamily="34" charset="-122"/>
                <a:cs typeface="Arial" pitchFamily="34" charset="-120"/>
              </a:rPr>
              <a:t>FACULTY</a:t>
            </a:r>
            <a:endParaRPr lang="en-US" sz="1200" dirty="0"/>
          </a:p>
        </p:txBody>
      </p:sp>
      <p:sp>
        <p:nvSpPr>
          <p:cNvPr id="14" name="Text 9"/>
          <p:cNvSpPr/>
          <p:nvPr/>
        </p:nvSpPr>
        <p:spPr>
          <a:xfrm>
            <a:off x="4986528" y="5427980"/>
            <a:ext cx="2218944" cy="292100"/>
          </a:xfrm>
          <a:prstGeom prst="rect">
            <a:avLst/>
          </a:prstGeom>
          <a:noFill/>
          <a:ln/>
        </p:spPr>
        <p:txBody>
          <a:bodyPr wrap="square" lIns="0" tIns="0" rIns="0" bIns="0" rtlCol="0" anchor="t">
            <a:normAutofit/>
          </a:bodyPr>
          <a:lstStyle/>
          <a:p>
            <a:pPr algn="ctr" indent="0" marL="0">
              <a:lnSpc>
                <a:spcPts val="2100"/>
              </a:lnSpc>
              <a:buNone/>
            </a:pPr>
            <a:r>
              <a:rPr lang="en-US" sz="1500" dirty="0">
                <a:solidFill>
                  <a:srgbClr val="14181F"/>
                </a:solidFill>
                <a:latin typeface="Arial" pitchFamily="34" charset="0"/>
                <a:ea typeface="Arial" pitchFamily="34" charset="-122"/>
                <a:cs typeface="Arial" pitchFamily="34" charset="-120"/>
              </a:rPr>
              <a:t>Prof. Sreeram Murthy</a:t>
            </a:r>
            <a:endParaRPr lang="en-US" sz="15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pic>
        <p:nvPicPr>
          <p:cNvPr id="2" name="Image 0" descr="Sparkle ornament">    </p:cNvPr>
          <p:cNvPicPr>
            <a:picLocks noChangeAspect="1"/>
          </p:cNvPicPr>
          <p:nvPr/>
        </p:nvPicPr>
        <p:blipFill>
          <a:blip r:embed="rId1"/>
          <a:srcRect l="0" r="0" t="0" b="0"/>
          <a:stretch/>
        </p:blipFill>
        <p:spPr>
          <a:xfrm>
            <a:off x="11074400" y="406400"/>
            <a:ext cx="304800" cy="304800"/>
          </a:xfrm>
          <a:prstGeom prst="rect">
            <a:avLst/>
          </a:prstGeom>
        </p:spPr>
      </p:pic>
      <p:pic>
        <p:nvPicPr>
          <p:cNvPr id="3" name="Image 1" descr="line">    </p:cNvPr>
          <p:cNvPicPr>
            <a:picLocks noChangeAspect="1"/>
          </p:cNvPicPr>
          <p:nvPr/>
        </p:nvPicPr>
        <p:blipFill>
          <a:blip r:embed="rId2"/>
          <a:srcRect l="0" r="0" t="-3333" b="-3333"/>
          <a:stretch/>
        </p:blipFill>
        <p:spPr>
          <a:xfrm>
            <a:off x="812800" y="457200"/>
            <a:ext cx="1524000" cy="20320"/>
          </a:xfrm>
          <a:prstGeom prst="rect">
            <a:avLst/>
          </a:prstGeom>
        </p:spPr>
      </p:pic>
      <p:sp>
        <p:nvSpPr>
          <p:cNvPr id="4"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spc="300" kern="0" dirty="0">
                <a:solidFill>
                  <a:srgbClr val="2B3340"/>
                </a:solidFill>
                <a:latin typeface="Arial" pitchFamily="34" charset="0"/>
                <a:ea typeface="Arial" pitchFamily="34" charset="-122"/>
                <a:cs typeface="Arial" pitchFamily="34" charset="-120"/>
              </a:rPr>
              <a:t>CLINICA</a:t>
            </a:r>
            <a:endParaRPr lang="en-US" sz="1200" dirty="0"/>
          </a:p>
        </p:txBody>
      </p:sp>
      <p:sp>
        <p:nvSpPr>
          <p:cNvPr id="5" name="Text 1"/>
          <p:cNvSpPr/>
          <p:nvPr>
            <p:ph type="title"/>
          </p:nvPr>
        </p:nvSpPr>
        <p:spPr>
          <a:xfrm>
            <a:off x="812800" y="1076960"/>
            <a:ext cx="10883392" cy="528320"/>
          </a:xfrm>
          <a:prstGeom prst="rect">
            <a:avLst/>
          </a:prstGeom>
          <a:noFill/>
          <a:ln/>
        </p:spPr>
        <p:txBody>
          <a:bodyPr wrap="square" lIns="0" tIns="0" rIns="0" bIns="0" rtlCol="0" anchor="t">
            <a:normAutofit/>
          </a:bodyPr>
          <a:lstStyle/>
          <a:p>
            <a:pPr algn="l" indent="0" marL="0">
              <a:lnSpc>
                <a:spcPts val="3960"/>
              </a:lnSpc>
              <a:buNone/>
            </a:pPr>
            <a:r>
              <a:rPr lang="en-US" sz="3600" b="0" i="0" spc="200" kern="0" dirty="0">
                <a:solidFill>
                  <a:srgbClr val="14181F"/>
                </a:solidFill>
                <a:latin typeface="Georgia" pitchFamily="18" charset="0"/>
                <a:ea typeface="Georgia" pitchFamily="18" charset="-122"/>
                <a:cs typeface="Georgia" pitchFamily="18" charset="-120"/>
              </a:rPr>
              <a:t>PROJECT PREVIEW</a:t>
            </a:r>
            <a:endParaRPr lang="en-US" sz="3600" dirty="0"/>
          </a:p>
        </p:txBody>
      </p:sp>
      <p:sp>
        <p:nvSpPr>
          <p:cNvPr id="6" name="Text 2"/>
          <p:cNvSpPr/>
          <p:nvPr/>
        </p:nvSpPr>
        <p:spPr>
          <a:xfrm>
            <a:off x="812800" y="1808480"/>
            <a:ext cx="10883392" cy="8255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2B3340"/>
                </a:solidFill>
                <a:latin typeface="Arial" pitchFamily="34" charset="0"/>
                <a:ea typeface="Arial" pitchFamily="34" charset="-122"/>
                <a:cs typeface="Arial" pitchFamily="34" charset="-120"/>
              </a:rPr>
              <a:t>Clinica is a console-based Java application that manages patient appointments and prescriptions for a small clinic. A receptionist books and cancels visits, a doctor records prescriptions, and the system saves every record to a file and prints daily reports. Each syllabus module adds one layer of the build.</a:t>
            </a:r>
            <a:endParaRPr lang="en-US" sz="1500" dirty="0"/>
          </a:p>
        </p:txBody>
      </p:sp>
      <p:sp>
        <p:nvSpPr>
          <p:cNvPr id="7" name="Shape 3"/>
          <p:cNvSpPr/>
          <p:nvPr/>
        </p:nvSpPr>
        <p:spPr>
          <a:xfrm>
            <a:off x="819150" y="2843530"/>
            <a:ext cx="3407807" cy="1214120"/>
          </a:xfrm>
          <a:prstGeom prst="roundRect">
            <a:avLst>
              <a:gd name="adj" fmla="val 16213"/>
            </a:avLst>
          </a:prstGeom>
          <a:solidFill>
            <a:srgbClr val="FFFFFF">
              <a:alpha val="55000"/>
            </a:srgbClr>
          </a:solidFill>
          <a:ln w="12700">
            <a:solidFill>
              <a:srgbClr val="14181F"/>
            </a:solidFill>
            <a:prstDash val="solid"/>
          </a:ln>
        </p:spPr>
      </p:sp>
      <p:sp>
        <p:nvSpPr>
          <p:cNvPr id="8" name="Text 4"/>
          <p:cNvSpPr/>
          <p:nvPr/>
        </p:nvSpPr>
        <p:spPr>
          <a:xfrm>
            <a:off x="1026160" y="3050540"/>
            <a:ext cx="3083600" cy="299720"/>
          </a:xfrm>
          <a:prstGeom prst="rect">
            <a:avLst/>
          </a:prstGeom>
          <a:noFill/>
          <a:ln/>
        </p:spPr>
        <p:txBody>
          <a:bodyPr wrap="square" lIns="0" tIns="0" rIns="0" bIns="0" rtlCol="0" anchor="t">
            <a:normAutofit/>
          </a:bodyPr>
          <a:lstStyle/>
          <a:p>
            <a:pPr algn="l" indent="0" marL="0">
              <a:lnSpc>
                <a:spcPts val="2160"/>
              </a:lnSpc>
              <a:buNone/>
            </a:pPr>
            <a:r>
              <a:rPr lang="en-US" sz="1800" dirty="0">
                <a:solidFill>
                  <a:srgbClr val="14181F"/>
                </a:solidFill>
                <a:latin typeface="Georgia" pitchFamily="18" charset="0"/>
                <a:ea typeface="Georgia" pitchFamily="18" charset="-122"/>
                <a:cs typeface="Georgia" pitchFamily="18" charset="-120"/>
              </a:rPr>
              <a:t>01 · Foundations</a:t>
            </a:r>
            <a:endParaRPr lang="en-US" sz="1800" dirty="0"/>
          </a:p>
        </p:txBody>
      </p:sp>
      <p:sp>
        <p:nvSpPr>
          <p:cNvPr id="9" name="Text 5"/>
          <p:cNvSpPr/>
          <p:nvPr/>
        </p:nvSpPr>
        <p:spPr>
          <a:xfrm>
            <a:off x="1026160" y="3388360"/>
            <a:ext cx="3083600" cy="4876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2B3340"/>
                </a:solidFill>
                <a:latin typeface="Arial" pitchFamily="34" charset="0"/>
                <a:ea typeface="Arial" pitchFamily="34" charset="-122"/>
                <a:cs typeface="Arial" pitchFamily="34" charset="-120"/>
              </a:rPr>
              <a:t>Algorithms, flowcharts, data types, operators and Scanner input</a:t>
            </a:r>
            <a:endParaRPr lang="en-US" sz="1300" dirty="0"/>
          </a:p>
        </p:txBody>
      </p:sp>
      <p:sp>
        <p:nvSpPr>
          <p:cNvPr id="10" name="Shape 6"/>
          <p:cNvSpPr/>
          <p:nvPr/>
        </p:nvSpPr>
        <p:spPr>
          <a:xfrm>
            <a:off x="4392057" y="2843530"/>
            <a:ext cx="3407807" cy="1214120"/>
          </a:xfrm>
          <a:prstGeom prst="roundRect">
            <a:avLst>
              <a:gd name="adj" fmla="val 16213"/>
            </a:avLst>
          </a:prstGeom>
          <a:solidFill>
            <a:srgbClr val="FFFFFF">
              <a:alpha val="55000"/>
            </a:srgbClr>
          </a:solidFill>
          <a:ln w="12700">
            <a:solidFill>
              <a:srgbClr val="14181F"/>
            </a:solidFill>
            <a:prstDash val="solid"/>
          </a:ln>
        </p:spPr>
      </p:sp>
      <p:sp>
        <p:nvSpPr>
          <p:cNvPr id="11" name="Text 7"/>
          <p:cNvSpPr/>
          <p:nvPr/>
        </p:nvSpPr>
        <p:spPr>
          <a:xfrm>
            <a:off x="4599067" y="3050540"/>
            <a:ext cx="3083600" cy="299720"/>
          </a:xfrm>
          <a:prstGeom prst="rect">
            <a:avLst/>
          </a:prstGeom>
          <a:noFill/>
          <a:ln/>
        </p:spPr>
        <p:txBody>
          <a:bodyPr wrap="square" lIns="0" tIns="0" rIns="0" bIns="0" rtlCol="0" anchor="t">
            <a:normAutofit/>
          </a:bodyPr>
          <a:lstStyle/>
          <a:p>
            <a:pPr algn="l" indent="0" marL="0">
              <a:lnSpc>
                <a:spcPts val="2160"/>
              </a:lnSpc>
              <a:buNone/>
            </a:pPr>
            <a:r>
              <a:rPr lang="en-US" sz="1800" dirty="0">
                <a:solidFill>
                  <a:srgbClr val="14181F"/>
                </a:solidFill>
                <a:latin typeface="Georgia" pitchFamily="18" charset="0"/>
                <a:ea typeface="Georgia" pitchFamily="18" charset="-122"/>
                <a:cs typeface="Georgia" pitchFamily="18" charset="-120"/>
              </a:rPr>
              <a:t>02 · Control Flow</a:t>
            </a:r>
            <a:endParaRPr lang="en-US" sz="1800" dirty="0"/>
          </a:p>
        </p:txBody>
      </p:sp>
      <p:sp>
        <p:nvSpPr>
          <p:cNvPr id="12" name="Text 8"/>
          <p:cNvSpPr/>
          <p:nvPr/>
        </p:nvSpPr>
        <p:spPr>
          <a:xfrm>
            <a:off x="4599067" y="3388360"/>
            <a:ext cx="3083600" cy="4876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2B3340"/>
                </a:solidFill>
                <a:latin typeface="Arial" pitchFamily="34" charset="0"/>
                <a:ea typeface="Arial" pitchFamily="34" charset="-122"/>
                <a:cs typeface="Arial" pitchFamily="34" charset="-120"/>
              </a:rPr>
              <a:t>if/else, switch menus and loops that drive the clinic menu</a:t>
            </a:r>
            <a:endParaRPr lang="en-US" sz="1300" dirty="0"/>
          </a:p>
        </p:txBody>
      </p:sp>
      <p:sp>
        <p:nvSpPr>
          <p:cNvPr id="13" name="Shape 9"/>
          <p:cNvSpPr/>
          <p:nvPr/>
        </p:nvSpPr>
        <p:spPr>
          <a:xfrm>
            <a:off x="7964964" y="2843530"/>
            <a:ext cx="3407807" cy="1214120"/>
          </a:xfrm>
          <a:prstGeom prst="roundRect">
            <a:avLst>
              <a:gd name="adj" fmla="val 16213"/>
            </a:avLst>
          </a:prstGeom>
          <a:solidFill>
            <a:srgbClr val="FFFFFF">
              <a:alpha val="55000"/>
            </a:srgbClr>
          </a:solidFill>
          <a:ln w="12700">
            <a:solidFill>
              <a:srgbClr val="14181F"/>
            </a:solidFill>
            <a:prstDash val="solid"/>
          </a:ln>
        </p:spPr>
      </p:sp>
      <p:sp>
        <p:nvSpPr>
          <p:cNvPr id="14" name="Text 10"/>
          <p:cNvSpPr/>
          <p:nvPr/>
        </p:nvSpPr>
        <p:spPr>
          <a:xfrm>
            <a:off x="8171974" y="3050540"/>
            <a:ext cx="3083600" cy="299720"/>
          </a:xfrm>
          <a:prstGeom prst="rect">
            <a:avLst/>
          </a:prstGeom>
          <a:noFill/>
          <a:ln/>
        </p:spPr>
        <p:txBody>
          <a:bodyPr wrap="square" lIns="0" tIns="0" rIns="0" bIns="0" rtlCol="0" anchor="t">
            <a:normAutofit/>
          </a:bodyPr>
          <a:lstStyle/>
          <a:p>
            <a:pPr algn="l" indent="0" marL="0">
              <a:lnSpc>
                <a:spcPts val="2160"/>
              </a:lnSpc>
              <a:buNone/>
            </a:pPr>
            <a:r>
              <a:rPr lang="en-US" sz="1800" dirty="0">
                <a:solidFill>
                  <a:srgbClr val="14181F"/>
                </a:solidFill>
                <a:latin typeface="Georgia" pitchFamily="18" charset="0"/>
                <a:ea typeface="Georgia" pitchFamily="18" charset="-122"/>
                <a:cs typeface="Georgia" pitchFamily="18" charset="-120"/>
              </a:rPr>
              <a:t>03 · Methods, Arrays</a:t>
            </a:r>
            <a:endParaRPr lang="en-US" sz="1800" dirty="0"/>
          </a:p>
        </p:txBody>
      </p:sp>
      <p:sp>
        <p:nvSpPr>
          <p:cNvPr id="15" name="Text 11"/>
          <p:cNvSpPr/>
          <p:nvPr/>
        </p:nvSpPr>
        <p:spPr>
          <a:xfrm>
            <a:off x="8171974" y="3388360"/>
            <a:ext cx="3083600" cy="4876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2B3340"/>
                </a:solidFill>
                <a:latin typeface="Arial" pitchFamily="34" charset="0"/>
                <a:ea typeface="Arial" pitchFamily="34" charset="-122"/>
                <a:cs typeface="Arial" pitchFamily="34" charset="-120"/>
              </a:rPr>
              <a:t>Reusable methods, recursion, 1D and 2D slot tables</a:t>
            </a:r>
            <a:endParaRPr lang="en-US" sz="1300" dirty="0"/>
          </a:p>
        </p:txBody>
      </p:sp>
      <p:sp>
        <p:nvSpPr>
          <p:cNvPr id="16" name="Shape 12"/>
          <p:cNvSpPr/>
          <p:nvPr/>
        </p:nvSpPr>
        <p:spPr>
          <a:xfrm>
            <a:off x="819150" y="4222750"/>
            <a:ext cx="3407807" cy="1214120"/>
          </a:xfrm>
          <a:prstGeom prst="roundRect">
            <a:avLst>
              <a:gd name="adj" fmla="val 16213"/>
            </a:avLst>
          </a:prstGeom>
          <a:solidFill>
            <a:srgbClr val="FFFFFF">
              <a:alpha val="55000"/>
            </a:srgbClr>
          </a:solidFill>
          <a:ln w="12700">
            <a:solidFill>
              <a:srgbClr val="14181F"/>
            </a:solidFill>
            <a:prstDash val="solid"/>
          </a:ln>
        </p:spPr>
      </p:sp>
      <p:sp>
        <p:nvSpPr>
          <p:cNvPr id="17" name="Text 13"/>
          <p:cNvSpPr/>
          <p:nvPr/>
        </p:nvSpPr>
        <p:spPr>
          <a:xfrm>
            <a:off x="1026160" y="4429760"/>
            <a:ext cx="3083600" cy="299720"/>
          </a:xfrm>
          <a:prstGeom prst="rect">
            <a:avLst/>
          </a:prstGeom>
          <a:noFill/>
          <a:ln/>
        </p:spPr>
        <p:txBody>
          <a:bodyPr wrap="square" lIns="0" tIns="0" rIns="0" bIns="0" rtlCol="0" anchor="t">
            <a:normAutofit/>
          </a:bodyPr>
          <a:lstStyle/>
          <a:p>
            <a:pPr algn="l" indent="0" marL="0">
              <a:lnSpc>
                <a:spcPts val="2160"/>
              </a:lnSpc>
              <a:buNone/>
            </a:pPr>
            <a:r>
              <a:rPr lang="en-US" sz="1800" dirty="0">
                <a:solidFill>
                  <a:srgbClr val="14181F"/>
                </a:solidFill>
                <a:latin typeface="Georgia" pitchFamily="18" charset="0"/>
                <a:ea typeface="Georgia" pitchFamily="18" charset="-122"/>
                <a:cs typeface="Georgia" pitchFamily="18" charset="-120"/>
              </a:rPr>
              <a:t>04 · OOP, Exceptions</a:t>
            </a:r>
            <a:endParaRPr lang="en-US" sz="1800" dirty="0"/>
          </a:p>
        </p:txBody>
      </p:sp>
      <p:sp>
        <p:nvSpPr>
          <p:cNvPr id="18" name="Text 14"/>
          <p:cNvSpPr/>
          <p:nvPr/>
        </p:nvSpPr>
        <p:spPr>
          <a:xfrm>
            <a:off x="1026160" y="4767580"/>
            <a:ext cx="3083600" cy="4876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2B3340"/>
                </a:solidFill>
                <a:latin typeface="Arial" pitchFamily="34" charset="0"/>
                <a:ea typeface="Arial" pitchFamily="34" charset="-122"/>
                <a:cs typeface="Arial" pitchFamily="34" charset="-120"/>
              </a:rPr>
              <a:t>Patient, Doctor, Appointment and Prescription classes</a:t>
            </a:r>
            <a:endParaRPr lang="en-US" sz="1300" dirty="0"/>
          </a:p>
        </p:txBody>
      </p:sp>
      <p:sp>
        <p:nvSpPr>
          <p:cNvPr id="19" name="Shape 15"/>
          <p:cNvSpPr/>
          <p:nvPr/>
        </p:nvSpPr>
        <p:spPr>
          <a:xfrm>
            <a:off x="4392057" y="4222750"/>
            <a:ext cx="3407807" cy="1214120"/>
          </a:xfrm>
          <a:prstGeom prst="roundRect">
            <a:avLst>
              <a:gd name="adj" fmla="val 16213"/>
            </a:avLst>
          </a:prstGeom>
          <a:solidFill>
            <a:srgbClr val="FFFFFF">
              <a:alpha val="55000"/>
            </a:srgbClr>
          </a:solidFill>
          <a:ln w="12700">
            <a:solidFill>
              <a:srgbClr val="14181F"/>
            </a:solidFill>
            <a:prstDash val="solid"/>
          </a:ln>
        </p:spPr>
      </p:sp>
      <p:sp>
        <p:nvSpPr>
          <p:cNvPr id="20" name="Text 16"/>
          <p:cNvSpPr/>
          <p:nvPr/>
        </p:nvSpPr>
        <p:spPr>
          <a:xfrm>
            <a:off x="4599067" y="4429760"/>
            <a:ext cx="3083600" cy="299720"/>
          </a:xfrm>
          <a:prstGeom prst="rect">
            <a:avLst/>
          </a:prstGeom>
          <a:noFill/>
          <a:ln/>
        </p:spPr>
        <p:txBody>
          <a:bodyPr wrap="square" lIns="0" tIns="0" rIns="0" bIns="0" rtlCol="0" anchor="t">
            <a:normAutofit/>
          </a:bodyPr>
          <a:lstStyle/>
          <a:p>
            <a:pPr algn="l" indent="0" marL="0">
              <a:lnSpc>
                <a:spcPts val="2160"/>
              </a:lnSpc>
              <a:buNone/>
            </a:pPr>
            <a:r>
              <a:rPr lang="en-US" sz="1800" dirty="0">
                <a:solidFill>
                  <a:srgbClr val="14181F"/>
                </a:solidFill>
                <a:latin typeface="Georgia" pitchFamily="18" charset="0"/>
                <a:ea typeface="Georgia" pitchFamily="18" charset="-122"/>
                <a:cs typeface="Georgia" pitchFamily="18" charset="-120"/>
              </a:rPr>
              <a:t>05 · Strings, Files</a:t>
            </a:r>
            <a:endParaRPr lang="en-US" sz="1800" dirty="0"/>
          </a:p>
        </p:txBody>
      </p:sp>
      <p:sp>
        <p:nvSpPr>
          <p:cNvPr id="21" name="Text 17"/>
          <p:cNvSpPr/>
          <p:nvPr/>
        </p:nvSpPr>
        <p:spPr>
          <a:xfrm>
            <a:off x="4599067" y="4767580"/>
            <a:ext cx="3083600" cy="4876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2B3340"/>
                </a:solidFill>
                <a:latin typeface="Arial" pitchFamily="34" charset="0"/>
                <a:ea typeface="Arial" pitchFamily="34" charset="-122"/>
                <a:cs typeface="Arial" pitchFamily="34" charset="-120"/>
              </a:rPr>
              <a:t>Record parsing, sorting, searching and text file storage</a:t>
            </a:r>
            <a:endParaRPr lang="en-US" sz="1300" dirty="0"/>
          </a:p>
        </p:txBody>
      </p:sp>
      <p:sp>
        <p:nvSpPr>
          <p:cNvPr id="22" name="Shape 18"/>
          <p:cNvSpPr/>
          <p:nvPr/>
        </p:nvSpPr>
        <p:spPr>
          <a:xfrm>
            <a:off x="7964964" y="4222750"/>
            <a:ext cx="3407807" cy="1214120"/>
          </a:xfrm>
          <a:prstGeom prst="roundRect">
            <a:avLst>
              <a:gd name="adj" fmla="val 16213"/>
            </a:avLst>
          </a:prstGeom>
          <a:solidFill>
            <a:srgbClr val="FFFFFF">
              <a:alpha val="55000"/>
            </a:srgbClr>
          </a:solidFill>
          <a:ln w="12700">
            <a:solidFill>
              <a:srgbClr val="14181F"/>
            </a:solidFill>
            <a:prstDash val="solid"/>
          </a:ln>
        </p:spPr>
      </p:sp>
      <p:sp>
        <p:nvSpPr>
          <p:cNvPr id="23" name="Text 19"/>
          <p:cNvSpPr/>
          <p:nvPr/>
        </p:nvSpPr>
        <p:spPr>
          <a:xfrm>
            <a:off x="8171974" y="4429760"/>
            <a:ext cx="3083600" cy="299720"/>
          </a:xfrm>
          <a:prstGeom prst="rect">
            <a:avLst/>
          </a:prstGeom>
          <a:noFill/>
          <a:ln/>
        </p:spPr>
        <p:txBody>
          <a:bodyPr wrap="square" lIns="0" tIns="0" rIns="0" bIns="0" rtlCol="0" anchor="t">
            <a:normAutofit/>
          </a:bodyPr>
          <a:lstStyle/>
          <a:p>
            <a:pPr algn="l" indent="0" marL="0">
              <a:lnSpc>
                <a:spcPts val="2160"/>
              </a:lnSpc>
              <a:buNone/>
            </a:pPr>
            <a:r>
              <a:rPr lang="en-US" sz="1800" dirty="0">
                <a:solidFill>
                  <a:srgbClr val="14181F"/>
                </a:solidFill>
                <a:latin typeface="Georgia" pitchFamily="18" charset="0"/>
                <a:ea typeface="Georgia" pitchFamily="18" charset="-122"/>
                <a:cs typeface="Georgia" pitchFamily="18" charset="-120"/>
              </a:rPr>
              <a:t>06 · Collections, Streams</a:t>
            </a:r>
            <a:endParaRPr lang="en-US" sz="1800" dirty="0"/>
          </a:p>
        </p:txBody>
      </p:sp>
      <p:sp>
        <p:nvSpPr>
          <p:cNvPr id="24" name="Text 20"/>
          <p:cNvSpPr/>
          <p:nvPr/>
        </p:nvSpPr>
        <p:spPr>
          <a:xfrm>
            <a:off x="8171974" y="4767580"/>
            <a:ext cx="3083600" cy="4876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2B3340"/>
                </a:solidFill>
                <a:latin typeface="Arial" pitchFamily="34" charset="0"/>
                <a:ea typeface="Arial" pitchFamily="34" charset="-122"/>
                <a:cs typeface="Arial" pitchFamily="34" charset="-120"/>
              </a:rPr>
              <a:t>Maps, lambdas and stream-based reports</a:t>
            </a:r>
            <a:endParaRPr lang="en-US" sz="1300" dirty="0"/>
          </a:p>
        </p:txBody>
      </p:sp>
      <p:sp>
        <p:nvSpPr>
          <p:cNvPr id="25" name="Text 21"/>
          <p:cNvSpPr/>
          <p:nvPr/>
        </p:nvSpPr>
        <p:spPr>
          <a:xfrm>
            <a:off x="812800" y="6238241"/>
            <a:ext cx="6540500" cy="23876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4A5565"/>
                </a:solidFill>
                <a:latin typeface="Arial" pitchFamily="34" charset="0"/>
                <a:ea typeface="Arial" pitchFamily="34" charset="-122"/>
                <a:cs typeface="Arial" pitchFamily="34" charset="-120"/>
              </a:rPr>
              <a:t>CLINICA · APPOINTMENT &amp; PRESCRIPTION MANAGER</a:t>
            </a:r>
            <a:endParaRPr lang="en-US" sz="1200" dirty="0"/>
          </a:p>
        </p:txBody>
      </p:sp>
      <p:sp>
        <p:nvSpPr>
          <p:cNvPr id="26" name="Text 22"/>
          <p:cNvSpPr/>
          <p:nvPr/>
        </p:nvSpPr>
        <p:spPr>
          <a:xfrm>
            <a:off x="10693400" y="6238241"/>
            <a:ext cx="68580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4A5565"/>
                </a:solidFill>
                <a:latin typeface="Arial" pitchFamily="34" charset="0"/>
                <a:ea typeface="Arial" pitchFamily="34" charset="-122"/>
                <a:cs typeface="Arial" pitchFamily="34" charset="-120"/>
              </a:rPr>
              <a:t>02</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pic>
        <p:nvPicPr>
          <p:cNvPr id="2" name="Image 0" descr="Sparkle ornament">    </p:cNvPr>
          <p:cNvPicPr>
            <a:picLocks noChangeAspect="1"/>
          </p:cNvPicPr>
          <p:nvPr/>
        </p:nvPicPr>
        <p:blipFill>
          <a:blip r:embed="rId1"/>
          <a:srcRect l="0" r="0" t="0" b="0"/>
          <a:stretch/>
        </p:blipFill>
        <p:spPr>
          <a:xfrm>
            <a:off x="11074400" y="406400"/>
            <a:ext cx="304800" cy="304800"/>
          </a:xfrm>
          <a:prstGeom prst="rect">
            <a:avLst/>
          </a:prstGeom>
        </p:spPr>
      </p:pic>
      <p:pic>
        <p:nvPicPr>
          <p:cNvPr id="3" name="Image 1" descr="line">    </p:cNvPr>
          <p:cNvPicPr>
            <a:picLocks noChangeAspect="1"/>
          </p:cNvPicPr>
          <p:nvPr/>
        </p:nvPicPr>
        <p:blipFill>
          <a:blip r:embed="rId2"/>
          <a:srcRect l="0" r="0" t="-3333" b="-3333"/>
          <a:stretch/>
        </p:blipFill>
        <p:spPr>
          <a:xfrm>
            <a:off x="812800" y="457200"/>
            <a:ext cx="1524000" cy="20320"/>
          </a:xfrm>
          <a:prstGeom prst="rect">
            <a:avLst/>
          </a:prstGeom>
        </p:spPr>
      </p:pic>
      <p:sp>
        <p:nvSpPr>
          <p:cNvPr id="4"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spc="300" kern="0" dirty="0">
                <a:solidFill>
                  <a:srgbClr val="2B3340"/>
                </a:solidFill>
                <a:latin typeface="Arial" pitchFamily="34" charset="0"/>
                <a:ea typeface="Arial" pitchFamily="34" charset="-122"/>
                <a:cs typeface="Arial" pitchFamily="34" charset="-120"/>
              </a:rPr>
              <a:t>MODULE 1</a:t>
            </a:r>
            <a:endParaRPr lang="en-US" sz="1200" dirty="0"/>
          </a:p>
        </p:txBody>
      </p:sp>
      <p:sp>
        <p:nvSpPr>
          <p:cNvPr id="5" name="Text 1"/>
          <p:cNvSpPr/>
          <p:nvPr>
            <p:ph type="title"/>
          </p:nvPr>
        </p:nvSpPr>
        <p:spPr>
          <a:xfrm>
            <a:off x="812800" y="1076961"/>
            <a:ext cx="10883392" cy="528320"/>
          </a:xfrm>
          <a:prstGeom prst="rect">
            <a:avLst/>
          </a:prstGeom>
          <a:noFill/>
          <a:ln/>
        </p:spPr>
        <p:txBody>
          <a:bodyPr wrap="square" lIns="0" tIns="0" rIns="0" bIns="0" rtlCol="0" anchor="t">
            <a:normAutofit/>
          </a:bodyPr>
          <a:lstStyle/>
          <a:p>
            <a:pPr algn="l" indent="0" marL="0">
              <a:lnSpc>
                <a:spcPts val="3960"/>
              </a:lnSpc>
              <a:buNone/>
            </a:pPr>
            <a:r>
              <a:rPr lang="en-US" sz="3600" b="0" i="0" spc="200" kern="0" dirty="0">
                <a:solidFill>
                  <a:srgbClr val="14181F"/>
                </a:solidFill>
                <a:latin typeface="Georgia" pitchFamily="18" charset="0"/>
                <a:ea typeface="Georgia" pitchFamily="18" charset="-122"/>
                <a:cs typeface="Georgia" pitchFamily="18" charset="-120"/>
              </a:rPr>
              <a:t>FROM PROBLEM TO PROGRAM</a:t>
            </a:r>
            <a:endParaRPr lang="en-US" sz="3600" dirty="0"/>
          </a:p>
        </p:txBody>
      </p:sp>
      <p:sp>
        <p:nvSpPr>
          <p:cNvPr id="6" name="Shape 2"/>
          <p:cNvSpPr/>
          <p:nvPr/>
        </p:nvSpPr>
        <p:spPr>
          <a:xfrm>
            <a:off x="819150" y="1891030"/>
            <a:ext cx="3373914" cy="3114040"/>
          </a:xfrm>
          <a:prstGeom prst="roundRect">
            <a:avLst>
              <a:gd name="adj" fmla="val 7953"/>
            </a:avLst>
          </a:prstGeom>
          <a:solidFill>
            <a:srgbClr val="FFFFFF">
              <a:alpha val="55000"/>
            </a:srgbClr>
          </a:solidFill>
          <a:ln w="12700">
            <a:solidFill>
              <a:srgbClr val="14181F"/>
            </a:solidFill>
            <a:prstDash val="solid"/>
          </a:ln>
        </p:spPr>
      </p:sp>
      <p:sp>
        <p:nvSpPr>
          <p:cNvPr id="7" name="Text 3"/>
          <p:cNvSpPr/>
          <p:nvPr/>
        </p:nvSpPr>
        <p:spPr>
          <a:xfrm>
            <a:off x="1127760" y="2199641"/>
            <a:ext cx="2839395" cy="416560"/>
          </a:xfrm>
          <a:prstGeom prst="rect">
            <a:avLst/>
          </a:prstGeom>
          <a:noFill/>
          <a:ln/>
        </p:spPr>
        <p:txBody>
          <a:bodyPr wrap="square" lIns="0" tIns="0" rIns="0" bIns="0" rtlCol="0" anchor="t">
            <a:normAutofit/>
          </a:bodyPr>
          <a:lstStyle/>
          <a:p>
            <a:pPr algn="l" indent="0" marL="0">
              <a:lnSpc>
                <a:spcPts val="3080"/>
              </a:lnSpc>
              <a:buNone/>
            </a:pPr>
            <a:r>
              <a:rPr lang="en-US" sz="2800" dirty="0">
                <a:solidFill>
                  <a:srgbClr val="14181F"/>
                </a:solidFill>
                <a:latin typeface="Georgia" pitchFamily="18" charset="0"/>
                <a:ea typeface="Georgia" pitchFamily="18" charset="-122"/>
                <a:cs typeface="Georgia" pitchFamily="18" charset="-120"/>
              </a:rPr>
              <a:t>01</a:t>
            </a:r>
            <a:endParaRPr lang="en-US" sz="2800" dirty="0"/>
          </a:p>
        </p:txBody>
      </p:sp>
      <p:sp>
        <p:nvSpPr>
          <p:cNvPr id="8" name="Text 4"/>
          <p:cNvSpPr/>
          <p:nvPr/>
        </p:nvSpPr>
        <p:spPr>
          <a:xfrm>
            <a:off x="1127760" y="2717800"/>
            <a:ext cx="2839395" cy="330200"/>
          </a:xfrm>
          <a:prstGeom prst="rect">
            <a:avLst/>
          </a:prstGeom>
          <a:noFill/>
          <a:ln/>
        </p:spPr>
        <p:txBody>
          <a:bodyPr wrap="square" lIns="0" tIns="0" rIns="0" bIns="0" rtlCol="0" anchor="t">
            <a:normAutofit/>
          </a:bodyPr>
          <a:lstStyle/>
          <a:p>
            <a:pPr algn="l" indent="0" marL="0">
              <a:lnSpc>
                <a:spcPts val="2400"/>
              </a:lnSpc>
              <a:buNone/>
            </a:pPr>
            <a:r>
              <a:rPr lang="en-US" sz="2000" dirty="0">
                <a:solidFill>
                  <a:srgbClr val="14181F"/>
                </a:solidFill>
                <a:latin typeface="Georgia" pitchFamily="18" charset="0"/>
                <a:ea typeface="Georgia" pitchFamily="18" charset="-122"/>
                <a:cs typeface="Georgia" pitchFamily="18" charset="-120"/>
              </a:rPr>
              <a:t>Algorithm &amp; Flowchart</a:t>
            </a:r>
            <a:endParaRPr lang="en-US" sz="2000" dirty="0"/>
          </a:p>
        </p:txBody>
      </p:sp>
      <p:sp>
        <p:nvSpPr>
          <p:cNvPr id="9" name="Text 5"/>
          <p:cNvSpPr/>
          <p:nvPr/>
        </p:nvSpPr>
        <p:spPr>
          <a:xfrm>
            <a:off x="1127760" y="3149600"/>
            <a:ext cx="2839395" cy="1314450"/>
          </a:xfrm>
          <a:prstGeom prst="rect">
            <a:avLst/>
          </a:prstGeom>
          <a:noFill/>
          <a:ln/>
        </p:spPr>
        <p:txBody>
          <a:bodyPr wrap="square" lIns="0" tIns="0" rIns="0" bIns="0" rtlCol="0" anchor="t">
            <a:normAutofit/>
          </a:bodyPr>
          <a:lstStyle/>
          <a:p>
            <a:pPr algn="l" indent="0" marL="0">
              <a:lnSpc>
                <a:spcPts val="2030"/>
              </a:lnSpc>
              <a:buNone/>
            </a:pPr>
            <a:r>
              <a:rPr lang="en-US" sz="1400" dirty="0">
                <a:solidFill>
                  <a:srgbClr val="2B3340"/>
                </a:solidFill>
                <a:latin typeface="Arial" pitchFamily="34" charset="0"/>
                <a:ea typeface="Arial" pitchFamily="34" charset="-122"/>
                <a:cs typeface="Arial" pitchFamily="34" charset="-120"/>
              </a:rPr>
              <a:t>The problem: book a visit, then issue a prescription. The steps are read patient, check slot, confirm, record the prescription. A flowchart comes before any code.</a:t>
            </a:r>
            <a:endParaRPr lang="en-US" sz="1400" dirty="0"/>
          </a:p>
        </p:txBody>
      </p:sp>
      <p:sp>
        <p:nvSpPr>
          <p:cNvPr id="10" name="Shape 6"/>
          <p:cNvSpPr/>
          <p:nvPr/>
        </p:nvSpPr>
        <p:spPr>
          <a:xfrm>
            <a:off x="4408964" y="1891030"/>
            <a:ext cx="3373993" cy="3114040"/>
          </a:xfrm>
          <a:prstGeom prst="roundRect">
            <a:avLst>
              <a:gd name="adj" fmla="val 7953"/>
            </a:avLst>
          </a:prstGeom>
          <a:solidFill>
            <a:srgbClr val="FFFFFF">
              <a:alpha val="55000"/>
            </a:srgbClr>
          </a:solidFill>
          <a:ln w="12700">
            <a:solidFill>
              <a:srgbClr val="14181F"/>
            </a:solidFill>
            <a:prstDash val="solid"/>
          </a:ln>
        </p:spPr>
      </p:sp>
      <p:sp>
        <p:nvSpPr>
          <p:cNvPr id="11" name="Text 7"/>
          <p:cNvSpPr/>
          <p:nvPr/>
        </p:nvSpPr>
        <p:spPr>
          <a:xfrm>
            <a:off x="4717574" y="2199641"/>
            <a:ext cx="2839476" cy="416560"/>
          </a:xfrm>
          <a:prstGeom prst="rect">
            <a:avLst/>
          </a:prstGeom>
          <a:noFill/>
          <a:ln/>
        </p:spPr>
        <p:txBody>
          <a:bodyPr wrap="square" lIns="0" tIns="0" rIns="0" bIns="0" rtlCol="0" anchor="t">
            <a:normAutofit/>
          </a:bodyPr>
          <a:lstStyle/>
          <a:p>
            <a:pPr algn="l" indent="0" marL="0">
              <a:lnSpc>
                <a:spcPts val="3080"/>
              </a:lnSpc>
              <a:buNone/>
            </a:pPr>
            <a:r>
              <a:rPr lang="en-US" sz="2800" dirty="0">
                <a:solidFill>
                  <a:srgbClr val="14181F"/>
                </a:solidFill>
                <a:latin typeface="Georgia" pitchFamily="18" charset="0"/>
                <a:ea typeface="Georgia" pitchFamily="18" charset="-122"/>
                <a:cs typeface="Georgia" pitchFamily="18" charset="-120"/>
              </a:rPr>
              <a:t>02</a:t>
            </a:r>
            <a:endParaRPr lang="en-US" sz="2800" dirty="0"/>
          </a:p>
        </p:txBody>
      </p:sp>
      <p:sp>
        <p:nvSpPr>
          <p:cNvPr id="12" name="Text 8"/>
          <p:cNvSpPr/>
          <p:nvPr/>
        </p:nvSpPr>
        <p:spPr>
          <a:xfrm>
            <a:off x="4717574" y="2717800"/>
            <a:ext cx="2839476" cy="330200"/>
          </a:xfrm>
          <a:prstGeom prst="rect">
            <a:avLst/>
          </a:prstGeom>
          <a:noFill/>
          <a:ln/>
        </p:spPr>
        <p:txBody>
          <a:bodyPr wrap="square" lIns="0" tIns="0" rIns="0" bIns="0" rtlCol="0" anchor="t">
            <a:normAutofit/>
          </a:bodyPr>
          <a:lstStyle/>
          <a:p>
            <a:pPr algn="l" indent="0" marL="0">
              <a:lnSpc>
                <a:spcPts val="2400"/>
              </a:lnSpc>
              <a:buNone/>
            </a:pPr>
            <a:r>
              <a:rPr lang="en-US" sz="2000" dirty="0">
                <a:solidFill>
                  <a:srgbClr val="14181F"/>
                </a:solidFill>
                <a:latin typeface="Georgia" pitchFamily="18" charset="0"/>
                <a:ea typeface="Georgia" pitchFamily="18" charset="-122"/>
                <a:cs typeface="Georgia" pitchFamily="18" charset="-120"/>
              </a:rPr>
              <a:t>Java Basics</a:t>
            </a:r>
            <a:endParaRPr lang="en-US" sz="2000" dirty="0"/>
          </a:p>
        </p:txBody>
      </p:sp>
      <p:sp>
        <p:nvSpPr>
          <p:cNvPr id="13" name="Text 9"/>
          <p:cNvSpPr/>
          <p:nvPr/>
        </p:nvSpPr>
        <p:spPr>
          <a:xfrm>
            <a:off x="4717574" y="3149600"/>
            <a:ext cx="2839476" cy="1572260"/>
          </a:xfrm>
          <a:prstGeom prst="rect">
            <a:avLst/>
          </a:prstGeom>
          <a:noFill/>
          <a:ln/>
        </p:spPr>
        <p:txBody>
          <a:bodyPr wrap="square" lIns="0" tIns="0" rIns="0" bIns="0" rtlCol="0" anchor="t">
            <a:normAutofit/>
          </a:bodyPr>
          <a:lstStyle/>
          <a:p>
            <a:pPr algn="l" indent="0" marL="0">
              <a:lnSpc>
                <a:spcPts val="2030"/>
              </a:lnSpc>
              <a:buNone/>
            </a:pPr>
            <a:r>
              <a:rPr lang="en-US" sz="1400" dirty="0">
                <a:solidFill>
                  <a:srgbClr val="2B3340"/>
                </a:solidFill>
                <a:latin typeface="Arial" pitchFamily="34" charset="0"/>
                <a:ea typeface="Arial" pitchFamily="34" charset="-122"/>
                <a:cs typeface="Arial" pitchFamily="34" charset="-120"/>
              </a:rPr>
              <a:t>A main() method starts the program. Variables such as int patientId and double fee, a final CONSULT_FEE constant, arithmetic and ternary operators, and typecasting for totals.</a:t>
            </a:r>
            <a:endParaRPr lang="en-US" sz="1400" dirty="0"/>
          </a:p>
        </p:txBody>
      </p:sp>
      <p:sp>
        <p:nvSpPr>
          <p:cNvPr id="14" name="Shape 10"/>
          <p:cNvSpPr/>
          <p:nvPr/>
        </p:nvSpPr>
        <p:spPr>
          <a:xfrm>
            <a:off x="7998857" y="1891030"/>
            <a:ext cx="3373993" cy="3114040"/>
          </a:xfrm>
          <a:prstGeom prst="roundRect">
            <a:avLst>
              <a:gd name="adj" fmla="val 7953"/>
            </a:avLst>
          </a:prstGeom>
          <a:solidFill>
            <a:srgbClr val="FFFFFF">
              <a:alpha val="55000"/>
            </a:srgbClr>
          </a:solidFill>
          <a:ln w="12700">
            <a:solidFill>
              <a:srgbClr val="14181F"/>
            </a:solidFill>
            <a:prstDash val="solid"/>
          </a:ln>
        </p:spPr>
      </p:sp>
      <p:sp>
        <p:nvSpPr>
          <p:cNvPr id="15" name="Text 11"/>
          <p:cNvSpPr/>
          <p:nvPr/>
        </p:nvSpPr>
        <p:spPr>
          <a:xfrm>
            <a:off x="8307467" y="2199641"/>
            <a:ext cx="2839476" cy="416560"/>
          </a:xfrm>
          <a:prstGeom prst="rect">
            <a:avLst/>
          </a:prstGeom>
          <a:noFill/>
          <a:ln/>
        </p:spPr>
        <p:txBody>
          <a:bodyPr wrap="square" lIns="0" tIns="0" rIns="0" bIns="0" rtlCol="0" anchor="t">
            <a:normAutofit/>
          </a:bodyPr>
          <a:lstStyle/>
          <a:p>
            <a:pPr algn="l" indent="0" marL="0">
              <a:lnSpc>
                <a:spcPts val="3080"/>
              </a:lnSpc>
              <a:buNone/>
            </a:pPr>
            <a:r>
              <a:rPr lang="en-US" sz="2800" dirty="0">
                <a:solidFill>
                  <a:srgbClr val="14181F"/>
                </a:solidFill>
                <a:latin typeface="Georgia" pitchFamily="18" charset="0"/>
                <a:ea typeface="Georgia" pitchFamily="18" charset="-122"/>
                <a:cs typeface="Georgia" pitchFamily="18" charset="-120"/>
              </a:rPr>
              <a:t>03</a:t>
            </a:r>
            <a:endParaRPr lang="en-US" sz="2800" dirty="0"/>
          </a:p>
        </p:txBody>
      </p:sp>
      <p:sp>
        <p:nvSpPr>
          <p:cNvPr id="16" name="Text 12"/>
          <p:cNvSpPr/>
          <p:nvPr/>
        </p:nvSpPr>
        <p:spPr>
          <a:xfrm>
            <a:off x="8307467" y="2717800"/>
            <a:ext cx="2839476" cy="330200"/>
          </a:xfrm>
          <a:prstGeom prst="rect">
            <a:avLst/>
          </a:prstGeom>
          <a:noFill/>
          <a:ln/>
        </p:spPr>
        <p:txBody>
          <a:bodyPr wrap="square" lIns="0" tIns="0" rIns="0" bIns="0" rtlCol="0" anchor="t">
            <a:normAutofit/>
          </a:bodyPr>
          <a:lstStyle/>
          <a:p>
            <a:pPr algn="l" indent="0" marL="0">
              <a:lnSpc>
                <a:spcPts val="2400"/>
              </a:lnSpc>
              <a:buNone/>
            </a:pPr>
            <a:r>
              <a:rPr lang="en-US" sz="2000" dirty="0">
                <a:solidFill>
                  <a:srgbClr val="14181F"/>
                </a:solidFill>
                <a:latin typeface="Georgia" pitchFamily="18" charset="0"/>
                <a:ea typeface="Georgia" pitchFamily="18" charset="-122"/>
                <a:cs typeface="Georgia" pitchFamily="18" charset="-120"/>
              </a:rPr>
              <a:t>Console I/O</a:t>
            </a:r>
            <a:endParaRPr lang="en-US" sz="2000" dirty="0"/>
          </a:p>
        </p:txBody>
      </p:sp>
      <p:sp>
        <p:nvSpPr>
          <p:cNvPr id="17" name="Text 13"/>
          <p:cNvSpPr/>
          <p:nvPr/>
        </p:nvSpPr>
        <p:spPr>
          <a:xfrm>
            <a:off x="8307467" y="3149600"/>
            <a:ext cx="2839476" cy="1314450"/>
          </a:xfrm>
          <a:prstGeom prst="rect">
            <a:avLst/>
          </a:prstGeom>
          <a:noFill/>
          <a:ln/>
        </p:spPr>
        <p:txBody>
          <a:bodyPr wrap="square" lIns="0" tIns="0" rIns="0" bIns="0" rtlCol="0" anchor="t">
            <a:normAutofit/>
          </a:bodyPr>
          <a:lstStyle/>
          <a:p>
            <a:pPr algn="l" indent="0" marL="0">
              <a:lnSpc>
                <a:spcPts val="2030"/>
              </a:lnSpc>
              <a:buNone/>
            </a:pPr>
            <a:r>
              <a:rPr lang="en-US" sz="1400" dirty="0">
                <a:solidFill>
                  <a:srgbClr val="2B3340"/>
                </a:solidFill>
                <a:latin typeface="Arial" pitchFamily="34" charset="0"/>
                <a:ea typeface="Arial" pitchFamily="34" charset="-122"/>
                <a:cs typeface="Arial" pitchFamily="34" charset="-120"/>
              </a:rPr>
              <a:t>Scanner reads the patient name, doctor and slot. printf formats the appointment receipt, and operator precedence decides how the bill expression is evaluated.</a:t>
            </a:r>
            <a:endParaRPr lang="en-US" sz="1400" dirty="0"/>
          </a:p>
        </p:txBody>
      </p:sp>
      <p:sp>
        <p:nvSpPr>
          <p:cNvPr id="18" name="Text 14"/>
          <p:cNvSpPr/>
          <p:nvPr/>
        </p:nvSpPr>
        <p:spPr>
          <a:xfrm>
            <a:off x="812800" y="6238241"/>
            <a:ext cx="6540500" cy="23876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4A5565"/>
                </a:solidFill>
                <a:latin typeface="Arial" pitchFamily="34" charset="0"/>
                <a:ea typeface="Arial" pitchFamily="34" charset="-122"/>
                <a:cs typeface="Arial" pitchFamily="34" charset="-120"/>
              </a:rPr>
              <a:t>CLINICA · APPOINTMENT &amp; PRESCRIPTION MANAGER</a:t>
            </a:r>
            <a:endParaRPr lang="en-US" sz="1200" dirty="0"/>
          </a:p>
        </p:txBody>
      </p:sp>
      <p:sp>
        <p:nvSpPr>
          <p:cNvPr id="19" name="Text 15"/>
          <p:cNvSpPr/>
          <p:nvPr/>
        </p:nvSpPr>
        <p:spPr>
          <a:xfrm>
            <a:off x="10693400" y="6238241"/>
            <a:ext cx="68580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4A5565"/>
                </a:solidFill>
                <a:latin typeface="Arial" pitchFamily="34" charset="0"/>
                <a:ea typeface="Arial" pitchFamily="34" charset="-122"/>
                <a:cs typeface="Arial" pitchFamily="34" charset="-120"/>
              </a:rPr>
              <a:t>03</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pic>
        <p:nvPicPr>
          <p:cNvPr id="2" name="Image 0" descr="Sparkle ornament">    </p:cNvPr>
          <p:cNvPicPr>
            <a:picLocks noChangeAspect="1"/>
          </p:cNvPicPr>
          <p:nvPr/>
        </p:nvPicPr>
        <p:blipFill>
          <a:blip r:embed="rId1"/>
          <a:srcRect l="0" r="0" t="0" b="0"/>
          <a:stretch/>
        </p:blipFill>
        <p:spPr>
          <a:xfrm>
            <a:off x="11074400" y="406400"/>
            <a:ext cx="304800" cy="304800"/>
          </a:xfrm>
          <a:prstGeom prst="rect">
            <a:avLst/>
          </a:prstGeom>
        </p:spPr>
      </p:pic>
      <p:pic>
        <p:nvPicPr>
          <p:cNvPr id="3" name="Image 1" descr="line">    </p:cNvPr>
          <p:cNvPicPr>
            <a:picLocks noChangeAspect="1"/>
          </p:cNvPicPr>
          <p:nvPr/>
        </p:nvPicPr>
        <p:blipFill>
          <a:blip r:embed="rId2"/>
          <a:srcRect l="0" r="0" t="-3333" b="-3333"/>
          <a:stretch/>
        </p:blipFill>
        <p:spPr>
          <a:xfrm>
            <a:off x="812800" y="457200"/>
            <a:ext cx="1524000" cy="20320"/>
          </a:xfrm>
          <a:prstGeom prst="rect">
            <a:avLst/>
          </a:prstGeom>
        </p:spPr>
      </p:pic>
      <p:sp>
        <p:nvSpPr>
          <p:cNvPr id="4"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spc="300" kern="0" dirty="0">
                <a:solidFill>
                  <a:srgbClr val="2B3340"/>
                </a:solidFill>
                <a:latin typeface="Arial" pitchFamily="34" charset="0"/>
                <a:ea typeface="Arial" pitchFamily="34" charset="-122"/>
                <a:cs typeface="Arial" pitchFamily="34" charset="-120"/>
              </a:rPr>
              <a:t>MODULE 2</a:t>
            </a:r>
            <a:endParaRPr lang="en-US" sz="1200" dirty="0"/>
          </a:p>
        </p:txBody>
      </p:sp>
      <p:sp>
        <p:nvSpPr>
          <p:cNvPr id="5" name="Text 1"/>
          <p:cNvSpPr/>
          <p:nvPr>
            <p:ph type="title"/>
          </p:nvPr>
        </p:nvSpPr>
        <p:spPr>
          <a:xfrm>
            <a:off x="812800" y="1076961"/>
            <a:ext cx="10883392" cy="528320"/>
          </a:xfrm>
          <a:prstGeom prst="rect">
            <a:avLst/>
          </a:prstGeom>
          <a:noFill/>
          <a:ln/>
        </p:spPr>
        <p:txBody>
          <a:bodyPr wrap="square" lIns="0" tIns="0" rIns="0" bIns="0" rtlCol="0" anchor="t">
            <a:normAutofit/>
          </a:bodyPr>
          <a:lstStyle/>
          <a:p>
            <a:pPr algn="l" indent="0" marL="0">
              <a:lnSpc>
                <a:spcPts val="3960"/>
              </a:lnSpc>
              <a:buNone/>
            </a:pPr>
            <a:r>
              <a:rPr lang="en-US" sz="3600" b="0" i="0" spc="200" kern="0" dirty="0">
                <a:solidFill>
                  <a:srgbClr val="14181F"/>
                </a:solidFill>
                <a:latin typeface="Georgia" pitchFamily="18" charset="0"/>
                <a:ea typeface="Georgia" pitchFamily="18" charset="-122"/>
                <a:cs typeface="Georgia" pitchFamily="18" charset="-120"/>
              </a:rPr>
              <a:t>SELECTION &amp; ITERATION</a:t>
            </a:r>
            <a:endParaRPr lang="en-US" sz="3600" dirty="0"/>
          </a:p>
        </p:txBody>
      </p:sp>
      <p:sp>
        <p:nvSpPr>
          <p:cNvPr id="6" name="Shape 2"/>
          <p:cNvSpPr/>
          <p:nvPr/>
        </p:nvSpPr>
        <p:spPr>
          <a:xfrm>
            <a:off x="819150" y="1891030"/>
            <a:ext cx="5168900" cy="2438400"/>
          </a:xfrm>
          <a:prstGeom prst="roundRect">
            <a:avLst>
              <a:gd name="adj" fmla="val 10156"/>
            </a:avLst>
          </a:prstGeom>
          <a:solidFill>
            <a:srgbClr val="FFFFFF">
              <a:alpha val="55000"/>
            </a:srgbClr>
          </a:solidFill>
          <a:ln w="12700">
            <a:solidFill>
              <a:srgbClr val="14181F"/>
            </a:solidFill>
            <a:prstDash val="solid"/>
          </a:ln>
        </p:spPr>
      </p:sp>
      <p:sp>
        <p:nvSpPr>
          <p:cNvPr id="7" name="Text 3"/>
          <p:cNvSpPr/>
          <p:nvPr/>
        </p:nvSpPr>
        <p:spPr>
          <a:xfrm>
            <a:off x="1127760" y="2199641"/>
            <a:ext cx="4688230" cy="360680"/>
          </a:xfrm>
          <a:prstGeom prst="rect">
            <a:avLst/>
          </a:prstGeom>
          <a:noFill/>
          <a:ln/>
        </p:spPr>
        <p:txBody>
          <a:bodyPr wrap="square" lIns="0" tIns="0" rIns="0" bIns="0" rtlCol="0" anchor="t">
            <a:normAutofit/>
          </a:bodyPr>
          <a:lstStyle/>
          <a:p>
            <a:pPr algn="l" indent="0" marL="0">
              <a:lnSpc>
                <a:spcPts val="2640"/>
              </a:lnSpc>
              <a:buNone/>
            </a:pPr>
            <a:r>
              <a:rPr lang="en-US" sz="2200" dirty="0">
                <a:solidFill>
                  <a:srgbClr val="14181F"/>
                </a:solidFill>
                <a:latin typeface="Georgia" pitchFamily="18" charset="0"/>
                <a:ea typeface="Georgia" pitchFamily="18" charset="-122"/>
                <a:cs typeface="Georgia" pitchFamily="18" charset="-120"/>
              </a:rPr>
              <a:t>Selection</a:t>
            </a:r>
            <a:endParaRPr lang="en-US" sz="2200" dirty="0"/>
          </a:p>
        </p:txBody>
      </p:sp>
      <p:sp>
        <p:nvSpPr>
          <p:cNvPr id="8" name="Text 4"/>
          <p:cNvSpPr/>
          <p:nvPr/>
        </p:nvSpPr>
        <p:spPr>
          <a:xfrm>
            <a:off x="1218692" y="2687320"/>
            <a:ext cx="4589678" cy="1358900"/>
          </a:xfrm>
          <a:prstGeom prst="rect">
            <a:avLst/>
          </a:prstGeom>
          <a:noFill/>
          <a:ln/>
        </p:spPr>
        <p:txBody>
          <a:bodyPr wrap="square" lIns="0" tIns="0" rIns="0" bIns="0" rtlCol="0" anchor="t">
            <a:normAutofit/>
          </a:bodyPr>
          <a:lstStyle/>
          <a:p>
            <a:pPr algn="l" marL="163068" indent="-163068">
              <a:lnSpc>
                <a:spcPts val="2100"/>
              </a:lnSpc>
              <a:buSzPct val="100000"/>
              <a:buChar char="•"/>
            </a:pPr>
            <a:r>
              <a:rPr lang="en-US" sz="1400" dirty="0">
                <a:solidFill>
                  <a:srgbClr val="2B3340"/>
                </a:solidFill>
                <a:latin typeface="Arial" pitchFamily="34" charset="0"/>
                <a:ea typeface="Arial" pitchFamily="34" charset="-122"/>
                <a:cs typeface="Arial" pitchFamily="34" charset="-120"/>
              </a:rPr>
              <a:t>if-else validates age, slot number and doctor availability</a:t>
            </a:r>
            <a:endParaRPr lang="en-US" sz="1400" dirty="0"/>
          </a:p>
          <a:p>
            <a:pPr algn="l" marL="163068" indent="-163068">
              <a:lnSpc>
                <a:spcPts val="2100"/>
              </a:lnSpc>
              <a:buSzPct val="100000"/>
              <a:buChar char="•"/>
            </a:pPr>
            <a:r>
              <a:rPr lang="en-US" sz="1400" dirty="0">
                <a:solidFill>
                  <a:srgbClr val="2B3340"/>
                </a:solidFill>
                <a:latin typeface="Arial" pitchFamily="34" charset="0"/>
                <a:ea typeface="Arial" pitchFamily="34" charset="-122"/>
                <a:cs typeface="Arial" pitchFamily="34" charset="-120"/>
              </a:rPr>
              <a:t>Nested-if checks the doctor, then the day, then a free slot</a:t>
            </a:r>
            <a:endParaRPr lang="en-US" sz="1400" dirty="0"/>
          </a:p>
          <a:p>
            <a:pPr algn="l" marL="163068" indent="-163068">
              <a:lnSpc>
                <a:spcPts val="2100"/>
              </a:lnSpc>
              <a:buSzPct val="100000"/>
              <a:buChar char="•"/>
            </a:pPr>
            <a:r>
              <a:rPr lang="en-US" sz="1400" dirty="0">
                <a:solidFill>
                  <a:srgbClr val="2B3340"/>
                </a:solidFill>
                <a:latin typeface="Arial" pitchFamily="34" charset="0"/>
                <a:ea typeface="Arial" pitchFamily="34" charset="-122"/>
                <a:cs typeface="Arial" pitchFamily="34" charset="-120"/>
              </a:rPr>
              <a:t>An else-if ladder sets the fee by patient type</a:t>
            </a:r>
            <a:endParaRPr lang="en-US" sz="1400" dirty="0"/>
          </a:p>
          <a:p>
            <a:pPr algn="l" marL="163068" indent="-163068">
              <a:lnSpc>
                <a:spcPts val="2100"/>
              </a:lnSpc>
              <a:buSzPct val="100000"/>
              <a:buChar char="•"/>
            </a:pPr>
            <a:r>
              <a:rPr lang="en-US" sz="1400" dirty="0">
                <a:solidFill>
                  <a:srgbClr val="2B3340"/>
                </a:solidFill>
                <a:latin typeface="Arial" pitchFamily="34" charset="0"/>
                <a:ea typeface="Arial" pitchFamily="34" charset="-122"/>
                <a:cs typeface="Arial" pitchFamily="34" charset="-120"/>
              </a:rPr>
              <a:t>switch with default and break drives the main menu</a:t>
            </a:r>
            <a:endParaRPr lang="en-US" sz="1400" dirty="0"/>
          </a:p>
        </p:txBody>
      </p:sp>
      <p:sp>
        <p:nvSpPr>
          <p:cNvPr id="9" name="Shape 5"/>
          <p:cNvSpPr/>
          <p:nvPr/>
        </p:nvSpPr>
        <p:spPr>
          <a:xfrm>
            <a:off x="6203950" y="1891030"/>
            <a:ext cx="5168900" cy="2438400"/>
          </a:xfrm>
          <a:prstGeom prst="roundRect">
            <a:avLst>
              <a:gd name="adj" fmla="val 10156"/>
            </a:avLst>
          </a:prstGeom>
          <a:solidFill>
            <a:srgbClr val="FFFFFF">
              <a:alpha val="55000"/>
            </a:srgbClr>
          </a:solidFill>
          <a:ln w="12700">
            <a:solidFill>
              <a:srgbClr val="14181F"/>
            </a:solidFill>
            <a:prstDash val="solid"/>
          </a:ln>
        </p:spPr>
      </p:sp>
      <p:sp>
        <p:nvSpPr>
          <p:cNvPr id="10" name="Text 6"/>
          <p:cNvSpPr/>
          <p:nvPr/>
        </p:nvSpPr>
        <p:spPr>
          <a:xfrm>
            <a:off x="6512560" y="2199641"/>
            <a:ext cx="4688230" cy="360680"/>
          </a:xfrm>
          <a:prstGeom prst="rect">
            <a:avLst/>
          </a:prstGeom>
          <a:noFill/>
          <a:ln/>
        </p:spPr>
        <p:txBody>
          <a:bodyPr wrap="square" lIns="0" tIns="0" rIns="0" bIns="0" rtlCol="0" anchor="t">
            <a:normAutofit/>
          </a:bodyPr>
          <a:lstStyle/>
          <a:p>
            <a:pPr algn="l" indent="0" marL="0">
              <a:lnSpc>
                <a:spcPts val="2640"/>
              </a:lnSpc>
              <a:buNone/>
            </a:pPr>
            <a:r>
              <a:rPr lang="en-US" sz="2200" dirty="0">
                <a:solidFill>
                  <a:srgbClr val="14181F"/>
                </a:solidFill>
                <a:latin typeface="Georgia" pitchFamily="18" charset="0"/>
                <a:ea typeface="Georgia" pitchFamily="18" charset="-122"/>
                <a:cs typeface="Georgia" pitchFamily="18" charset="-120"/>
              </a:rPr>
              <a:t>Iteration</a:t>
            </a:r>
            <a:endParaRPr lang="en-US" sz="2200" dirty="0"/>
          </a:p>
        </p:txBody>
      </p:sp>
      <p:sp>
        <p:nvSpPr>
          <p:cNvPr id="11" name="Text 7"/>
          <p:cNvSpPr/>
          <p:nvPr/>
        </p:nvSpPr>
        <p:spPr>
          <a:xfrm>
            <a:off x="6603492" y="2687320"/>
            <a:ext cx="4589678" cy="1358900"/>
          </a:xfrm>
          <a:prstGeom prst="rect">
            <a:avLst/>
          </a:prstGeom>
          <a:noFill/>
          <a:ln/>
        </p:spPr>
        <p:txBody>
          <a:bodyPr wrap="square" lIns="0" tIns="0" rIns="0" bIns="0" rtlCol="0" anchor="t">
            <a:normAutofit/>
          </a:bodyPr>
          <a:lstStyle/>
          <a:p>
            <a:pPr algn="l" marL="163068" indent="-163068">
              <a:lnSpc>
                <a:spcPts val="2100"/>
              </a:lnSpc>
              <a:buSzPct val="100000"/>
              <a:buChar char="•"/>
            </a:pPr>
            <a:r>
              <a:rPr lang="en-US" sz="1400" dirty="0">
                <a:solidFill>
                  <a:srgbClr val="2B3340"/>
                </a:solidFill>
                <a:latin typeface="Arial" pitchFamily="34" charset="0"/>
                <a:ea typeface="Arial" pitchFamily="34" charset="-122"/>
                <a:cs typeface="Arial" pitchFamily="34" charset="-120"/>
              </a:rPr>
              <a:t>do-while repeats the menu until the user picks Exit</a:t>
            </a:r>
            <a:endParaRPr lang="en-US" sz="1400" dirty="0"/>
          </a:p>
          <a:p>
            <a:pPr algn="l" marL="163068" indent="-163068">
              <a:lnSpc>
                <a:spcPts val="2100"/>
              </a:lnSpc>
              <a:buSzPct val="100000"/>
              <a:buChar char="•"/>
            </a:pPr>
            <a:r>
              <a:rPr lang="en-US" sz="1400" dirty="0">
                <a:solidFill>
                  <a:srgbClr val="2B3340"/>
                </a:solidFill>
                <a:latin typeface="Arial" pitchFamily="34" charset="0"/>
                <a:ea typeface="Arial" pitchFamily="34" charset="-122"/>
                <a:cs typeface="Arial" pitchFamily="34" charset="-120"/>
              </a:rPr>
              <a:t>A for loop prints the day's appointment list</a:t>
            </a:r>
            <a:endParaRPr lang="en-US" sz="1400" dirty="0"/>
          </a:p>
          <a:p>
            <a:pPr algn="l" marL="163068" indent="-163068">
              <a:lnSpc>
                <a:spcPts val="2100"/>
              </a:lnSpc>
              <a:buSzPct val="100000"/>
              <a:buChar char="•"/>
            </a:pPr>
            <a:r>
              <a:rPr lang="en-US" sz="1400" dirty="0">
                <a:solidFill>
                  <a:srgbClr val="2B3340"/>
                </a:solidFill>
                <a:latin typeface="Arial" pitchFamily="34" charset="0"/>
                <a:ea typeface="Arial" pitchFamily="34" charset="-122"/>
                <a:cs typeface="Arial" pitchFamily="34" charset="-120"/>
              </a:rPr>
              <a:t>A while loop reads medicines until the user types done</a:t>
            </a:r>
            <a:endParaRPr lang="en-US" sz="1400" dirty="0"/>
          </a:p>
          <a:p>
            <a:pPr algn="l" marL="163068" indent="-163068">
              <a:lnSpc>
                <a:spcPts val="2100"/>
              </a:lnSpc>
              <a:buSzPct val="100000"/>
              <a:buChar char="•"/>
            </a:pPr>
            <a:r>
              <a:rPr lang="en-US" sz="1400" dirty="0">
                <a:solidFill>
                  <a:srgbClr val="2B3340"/>
                </a:solidFill>
                <a:latin typeface="Arial" pitchFamily="34" charset="0"/>
                <a:ea typeface="Arial" pitchFamily="34" charset="-122"/>
                <a:cs typeface="Arial" pitchFamily="34" charset="-120"/>
              </a:rPr>
              <a:t>Nested loops draw the weekly timetable; continue skips booked slots</a:t>
            </a:r>
            <a:endParaRPr lang="en-US" sz="1400" dirty="0"/>
          </a:p>
        </p:txBody>
      </p:sp>
      <p:sp>
        <p:nvSpPr>
          <p:cNvPr id="12" name="Text 8"/>
          <p:cNvSpPr/>
          <p:nvPr/>
        </p:nvSpPr>
        <p:spPr>
          <a:xfrm>
            <a:off x="812800" y="6238239"/>
            <a:ext cx="6540500" cy="23876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4A5565"/>
                </a:solidFill>
                <a:latin typeface="Arial" pitchFamily="34" charset="0"/>
                <a:ea typeface="Arial" pitchFamily="34" charset="-122"/>
                <a:cs typeface="Arial" pitchFamily="34" charset="-120"/>
              </a:rPr>
              <a:t>CLINICA · APPOINTMENT &amp; PRESCRIPTION MANAGER</a:t>
            </a:r>
            <a:endParaRPr lang="en-US" sz="1200" dirty="0"/>
          </a:p>
        </p:txBody>
      </p:sp>
      <p:sp>
        <p:nvSpPr>
          <p:cNvPr id="13" name="Text 9"/>
          <p:cNvSpPr/>
          <p:nvPr/>
        </p:nvSpPr>
        <p:spPr>
          <a:xfrm>
            <a:off x="10693400" y="6238239"/>
            <a:ext cx="68580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4A5565"/>
                </a:solidFill>
                <a:latin typeface="Arial" pitchFamily="34" charset="0"/>
                <a:ea typeface="Arial" pitchFamily="34" charset="-122"/>
                <a:cs typeface="Arial" pitchFamily="34" charset="-120"/>
              </a:rPr>
              <a:t>04</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pic>
        <p:nvPicPr>
          <p:cNvPr id="2" name="Image 0" descr="Sparkle ornament">    </p:cNvPr>
          <p:cNvPicPr>
            <a:picLocks noChangeAspect="1"/>
          </p:cNvPicPr>
          <p:nvPr/>
        </p:nvPicPr>
        <p:blipFill>
          <a:blip r:embed="rId1"/>
          <a:srcRect l="0" r="0" t="0" b="0"/>
          <a:stretch/>
        </p:blipFill>
        <p:spPr>
          <a:xfrm>
            <a:off x="11074400" y="406400"/>
            <a:ext cx="304800" cy="304800"/>
          </a:xfrm>
          <a:prstGeom prst="rect">
            <a:avLst/>
          </a:prstGeom>
        </p:spPr>
      </p:pic>
      <p:pic>
        <p:nvPicPr>
          <p:cNvPr id="3" name="Image 1" descr="line">    </p:cNvPr>
          <p:cNvPicPr>
            <a:picLocks noChangeAspect="1"/>
          </p:cNvPicPr>
          <p:nvPr/>
        </p:nvPicPr>
        <p:blipFill>
          <a:blip r:embed="rId2"/>
          <a:srcRect l="0" r="0" t="-3333" b="-3333"/>
          <a:stretch/>
        </p:blipFill>
        <p:spPr>
          <a:xfrm>
            <a:off x="812800" y="457200"/>
            <a:ext cx="1524000" cy="20320"/>
          </a:xfrm>
          <a:prstGeom prst="rect">
            <a:avLst/>
          </a:prstGeom>
        </p:spPr>
      </p:pic>
      <p:sp>
        <p:nvSpPr>
          <p:cNvPr id="4"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spc="300" kern="0" dirty="0">
                <a:solidFill>
                  <a:srgbClr val="2B3340"/>
                </a:solidFill>
                <a:latin typeface="Arial" pitchFamily="34" charset="0"/>
                <a:ea typeface="Arial" pitchFamily="34" charset="-122"/>
                <a:cs typeface="Arial" pitchFamily="34" charset="-120"/>
              </a:rPr>
              <a:t>MODULE 3</a:t>
            </a:r>
            <a:endParaRPr lang="en-US" sz="1200" dirty="0"/>
          </a:p>
        </p:txBody>
      </p:sp>
      <p:sp>
        <p:nvSpPr>
          <p:cNvPr id="5" name="Text 1"/>
          <p:cNvSpPr/>
          <p:nvPr>
            <p:ph type="title"/>
          </p:nvPr>
        </p:nvSpPr>
        <p:spPr>
          <a:xfrm>
            <a:off x="812800" y="1076961"/>
            <a:ext cx="10883392" cy="528320"/>
          </a:xfrm>
          <a:prstGeom prst="rect">
            <a:avLst/>
          </a:prstGeom>
          <a:noFill/>
          <a:ln/>
        </p:spPr>
        <p:txBody>
          <a:bodyPr wrap="square" lIns="0" tIns="0" rIns="0" bIns="0" rtlCol="0" anchor="t">
            <a:normAutofit/>
          </a:bodyPr>
          <a:lstStyle/>
          <a:p>
            <a:pPr algn="l" indent="0" marL="0">
              <a:lnSpc>
                <a:spcPts val="3960"/>
              </a:lnSpc>
              <a:buNone/>
            </a:pPr>
            <a:r>
              <a:rPr lang="en-US" sz="3600" b="0" i="0" spc="200" kern="0" dirty="0">
                <a:solidFill>
                  <a:srgbClr val="14181F"/>
                </a:solidFill>
                <a:latin typeface="Georgia" pitchFamily="18" charset="0"/>
                <a:ea typeface="Georgia" pitchFamily="18" charset="-122"/>
                <a:cs typeface="Georgia" pitchFamily="18" charset="-120"/>
              </a:rPr>
              <a:t>METHODS, RECURSION &amp; ARRAYS</a:t>
            </a:r>
            <a:endParaRPr lang="en-US" sz="3600" dirty="0"/>
          </a:p>
        </p:txBody>
      </p:sp>
      <p:sp>
        <p:nvSpPr>
          <p:cNvPr id="6" name="Shape 2"/>
          <p:cNvSpPr/>
          <p:nvPr/>
        </p:nvSpPr>
        <p:spPr>
          <a:xfrm>
            <a:off x="819150" y="1891032"/>
            <a:ext cx="3373914" cy="2853690"/>
          </a:xfrm>
          <a:prstGeom prst="roundRect">
            <a:avLst>
              <a:gd name="adj" fmla="val 8678"/>
            </a:avLst>
          </a:prstGeom>
          <a:solidFill>
            <a:srgbClr val="FFFFFF">
              <a:alpha val="55000"/>
            </a:srgbClr>
          </a:solidFill>
          <a:ln w="12700">
            <a:solidFill>
              <a:srgbClr val="14181F"/>
            </a:solidFill>
            <a:prstDash val="solid"/>
          </a:ln>
        </p:spPr>
      </p:sp>
      <p:sp>
        <p:nvSpPr>
          <p:cNvPr id="7" name="Text 3"/>
          <p:cNvSpPr/>
          <p:nvPr/>
        </p:nvSpPr>
        <p:spPr>
          <a:xfrm>
            <a:off x="1127760" y="2199639"/>
            <a:ext cx="2839395" cy="330200"/>
          </a:xfrm>
          <a:prstGeom prst="rect">
            <a:avLst/>
          </a:prstGeom>
          <a:noFill/>
          <a:ln/>
        </p:spPr>
        <p:txBody>
          <a:bodyPr wrap="square" lIns="0" tIns="0" rIns="0" bIns="0" rtlCol="0" anchor="t">
            <a:normAutofit/>
          </a:bodyPr>
          <a:lstStyle/>
          <a:p>
            <a:pPr algn="l" indent="0" marL="0">
              <a:lnSpc>
                <a:spcPts val="2400"/>
              </a:lnSpc>
              <a:buNone/>
            </a:pPr>
            <a:r>
              <a:rPr lang="en-US" sz="2000" dirty="0">
                <a:solidFill>
                  <a:srgbClr val="14181F"/>
                </a:solidFill>
                <a:latin typeface="Georgia" pitchFamily="18" charset="0"/>
                <a:ea typeface="Georgia" pitchFamily="18" charset="-122"/>
                <a:cs typeface="Georgia" pitchFamily="18" charset="-120"/>
              </a:rPr>
              <a:t>Methods</a:t>
            </a:r>
            <a:endParaRPr lang="en-US" sz="2000" dirty="0"/>
          </a:p>
        </p:txBody>
      </p:sp>
      <p:sp>
        <p:nvSpPr>
          <p:cNvPr id="8" name="Text 4"/>
          <p:cNvSpPr/>
          <p:nvPr/>
        </p:nvSpPr>
        <p:spPr>
          <a:xfrm>
            <a:off x="1127760" y="2631439"/>
            <a:ext cx="2839395" cy="1830070"/>
          </a:xfrm>
          <a:prstGeom prst="rect">
            <a:avLst/>
          </a:prstGeom>
          <a:noFill/>
          <a:ln/>
        </p:spPr>
        <p:txBody>
          <a:bodyPr wrap="square" lIns="0" tIns="0" rIns="0" bIns="0" rtlCol="0" anchor="t">
            <a:normAutofit/>
          </a:bodyPr>
          <a:lstStyle/>
          <a:p>
            <a:pPr algn="l" indent="0" marL="0">
              <a:lnSpc>
                <a:spcPts val="2030"/>
              </a:lnSpc>
              <a:buNone/>
            </a:pPr>
            <a:r>
              <a:rPr lang="en-US" sz="1400" dirty="0">
                <a:solidFill>
                  <a:srgbClr val="2B3340"/>
                </a:solidFill>
                <a:latin typeface="Arial" pitchFamily="34" charset="0"/>
                <a:ea typeface="Arial" pitchFamily="34" charset="-122"/>
                <a:cs typeface="Arial" pitchFamily="34" charset="-120"/>
              </a:rPr>
              <a:t>bookAppointment() and calculateBill() split the program into small parts. Parameters pass patient data in and return values pass results out. printReceipt() is overloaded for a short and a detailed version.</a:t>
            </a:r>
            <a:endParaRPr lang="en-US" sz="1400" dirty="0"/>
          </a:p>
        </p:txBody>
      </p:sp>
      <p:sp>
        <p:nvSpPr>
          <p:cNvPr id="9" name="Shape 5"/>
          <p:cNvSpPr/>
          <p:nvPr/>
        </p:nvSpPr>
        <p:spPr>
          <a:xfrm>
            <a:off x="4408964" y="1891032"/>
            <a:ext cx="3373993" cy="2853690"/>
          </a:xfrm>
          <a:prstGeom prst="roundRect">
            <a:avLst>
              <a:gd name="adj" fmla="val 8678"/>
            </a:avLst>
          </a:prstGeom>
          <a:solidFill>
            <a:srgbClr val="FFFFFF">
              <a:alpha val="55000"/>
            </a:srgbClr>
          </a:solidFill>
          <a:ln w="12700">
            <a:solidFill>
              <a:srgbClr val="14181F"/>
            </a:solidFill>
            <a:prstDash val="solid"/>
          </a:ln>
        </p:spPr>
      </p:sp>
      <p:sp>
        <p:nvSpPr>
          <p:cNvPr id="10" name="Text 6"/>
          <p:cNvSpPr/>
          <p:nvPr/>
        </p:nvSpPr>
        <p:spPr>
          <a:xfrm>
            <a:off x="4717574" y="2199639"/>
            <a:ext cx="2839476" cy="330200"/>
          </a:xfrm>
          <a:prstGeom prst="rect">
            <a:avLst/>
          </a:prstGeom>
          <a:noFill/>
          <a:ln/>
        </p:spPr>
        <p:txBody>
          <a:bodyPr wrap="square" lIns="0" tIns="0" rIns="0" bIns="0" rtlCol="0" anchor="t">
            <a:normAutofit/>
          </a:bodyPr>
          <a:lstStyle/>
          <a:p>
            <a:pPr algn="l" indent="0" marL="0">
              <a:lnSpc>
                <a:spcPts val="2400"/>
              </a:lnSpc>
              <a:buNone/>
            </a:pPr>
            <a:r>
              <a:rPr lang="en-US" sz="2000" dirty="0">
                <a:solidFill>
                  <a:srgbClr val="14181F"/>
                </a:solidFill>
                <a:latin typeface="Georgia" pitchFamily="18" charset="0"/>
                <a:ea typeface="Georgia" pitchFamily="18" charset="-122"/>
                <a:cs typeface="Georgia" pitchFamily="18" charset="-120"/>
              </a:rPr>
              <a:t>1D Arrays</a:t>
            </a:r>
            <a:endParaRPr lang="en-US" sz="2000" dirty="0"/>
          </a:p>
        </p:txBody>
      </p:sp>
      <p:sp>
        <p:nvSpPr>
          <p:cNvPr id="11" name="Text 7"/>
          <p:cNvSpPr/>
          <p:nvPr/>
        </p:nvSpPr>
        <p:spPr>
          <a:xfrm>
            <a:off x="4717574" y="2631439"/>
            <a:ext cx="2839476" cy="1572260"/>
          </a:xfrm>
          <a:prstGeom prst="rect">
            <a:avLst/>
          </a:prstGeom>
          <a:noFill/>
          <a:ln/>
        </p:spPr>
        <p:txBody>
          <a:bodyPr wrap="square" lIns="0" tIns="0" rIns="0" bIns="0" rtlCol="0" anchor="t">
            <a:normAutofit/>
          </a:bodyPr>
          <a:lstStyle/>
          <a:p>
            <a:pPr algn="l" indent="0" marL="0">
              <a:lnSpc>
                <a:spcPts val="2030"/>
              </a:lnSpc>
              <a:buNone/>
            </a:pPr>
            <a:r>
              <a:rPr lang="en-US" sz="1400" dirty="0">
                <a:solidFill>
                  <a:srgbClr val="2B3340"/>
                </a:solidFill>
                <a:latin typeface="Arial" pitchFamily="34" charset="0"/>
                <a:ea typeface="Arial" pitchFamily="34" charset="-122"/>
                <a:cs typeface="Arial" pitchFamily="34" charset="-120"/>
              </a:rPr>
              <a:t>A slots array holds one doctor's day. Traversal lists it, linear search finds the first free slot, and counting and summation give the bookings per day and the average load. An enhanced for loop prints it.</a:t>
            </a:r>
            <a:endParaRPr lang="en-US" sz="1400" dirty="0"/>
          </a:p>
        </p:txBody>
      </p:sp>
      <p:sp>
        <p:nvSpPr>
          <p:cNvPr id="12" name="Shape 8"/>
          <p:cNvSpPr/>
          <p:nvPr/>
        </p:nvSpPr>
        <p:spPr>
          <a:xfrm>
            <a:off x="7998857" y="1891032"/>
            <a:ext cx="3373993" cy="2853690"/>
          </a:xfrm>
          <a:prstGeom prst="roundRect">
            <a:avLst>
              <a:gd name="adj" fmla="val 8678"/>
            </a:avLst>
          </a:prstGeom>
          <a:solidFill>
            <a:srgbClr val="FFFFFF">
              <a:alpha val="55000"/>
            </a:srgbClr>
          </a:solidFill>
          <a:ln w="12700">
            <a:solidFill>
              <a:srgbClr val="14181F"/>
            </a:solidFill>
            <a:prstDash val="solid"/>
          </a:ln>
        </p:spPr>
      </p:sp>
      <p:sp>
        <p:nvSpPr>
          <p:cNvPr id="13" name="Text 9"/>
          <p:cNvSpPr/>
          <p:nvPr/>
        </p:nvSpPr>
        <p:spPr>
          <a:xfrm>
            <a:off x="8307467" y="2199639"/>
            <a:ext cx="2839476" cy="330200"/>
          </a:xfrm>
          <a:prstGeom prst="rect">
            <a:avLst/>
          </a:prstGeom>
          <a:noFill/>
          <a:ln/>
        </p:spPr>
        <p:txBody>
          <a:bodyPr wrap="square" lIns="0" tIns="0" rIns="0" bIns="0" rtlCol="0" anchor="t">
            <a:normAutofit/>
          </a:bodyPr>
          <a:lstStyle/>
          <a:p>
            <a:pPr algn="l" indent="0" marL="0">
              <a:lnSpc>
                <a:spcPts val="2400"/>
              </a:lnSpc>
              <a:buNone/>
            </a:pPr>
            <a:r>
              <a:rPr lang="en-US" sz="2000" dirty="0">
                <a:solidFill>
                  <a:srgbClr val="14181F"/>
                </a:solidFill>
                <a:latin typeface="Georgia" pitchFamily="18" charset="0"/>
                <a:ea typeface="Georgia" pitchFamily="18" charset="-122"/>
                <a:cs typeface="Georgia" pitchFamily="18" charset="-120"/>
              </a:rPr>
              <a:t>2D Arrays &amp; Recursion</a:t>
            </a:r>
            <a:endParaRPr lang="en-US" sz="2000" dirty="0"/>
          </a:p>
        </p:txBody>
      </p:sp>
      <p:sp>
        <p:nvSpPr>
          <p:cNvPr id="14" name="Text 10"/>
          <p:cNvSpPr/>
          <p:nvPr/>
        </p:nvSpPr>
        <p:spPr>
          <a:xfrm>
            <a:off x="8307467" y="2631439"/>
            <a:ext cx="2839476" cy="1572260"/>
          </a:xfrm>
          <a:prstGeom prst="rect">
            <a:avLst/>
          </a:prstGeom>
          <a:noFill/>
          <a:ln/>
        </p:spPr>
        <p:txBody>
          <a:bodyPr wrap="square" lIns="0" tIns="0" rIns="0" bIns="0" rtlCol="0" anchor="t">
            <a:normAutofit/>
          </a:bodyPr>
          <a:lstStyle/>
          <a:p>
            <a:pPr algn="l" indent="0" marL="0">
              <a:lnSpc>
                <a:spcPts val="2030"/>
              </a:lnSpc>
              <a:buNone/>
            </a:pPr>
            <a:r>
              <a:rPr lang="en-US" sz="1400" dirty="0">
                <a:solidFill>
                  <a:srgbClr val="2B3340"/>
                </a:solidFill>
                <a:latin typeface="Arial" pitchFamily="34" charset="0"/>
                <a:ea typeface="Arial" pitchFamily="34" charset="-122"/>
                <a:cs typeface="Arial" pitchFamily="34" charset="-120"/>
              </a:rPr>
              <a:t>A doctors by days matrix stores the weekly schedule, and matrix addition merges two weeks. A recursive method totals a prescription's item costs, with an empty list as the base case.</a:t>
            </a:r>
            <a:endParaRPr lang="en-US" sz="1400" dirty="0"/>
          </a:p>
        </p:txBody>
      </p:sp>
      <p:sp>
        <p:nvSpPr>
          <p:cNvPr id="15" name="Text 11"/>
          <p:cNvSpPr/>
          <p:nvPr/>
        </p:nvSpPr>
        <p:spPr>
          <a:xfrm>
            <a:off x="812800" y="6238239"/>
            <a:ext cx="6540500" cy="23876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4A5565"/>
                </a:solidFill>
                <a:latin typeface="Arial" pitchFamily="34" charset="0"/>
                <a:ea typeface="Arial" pitchFamily="34" charset="-122"/>
                <a:cs typeface="Arial" pitchFamily="34" charset="-120"/>
              </a:rPr>
              <a:t>CLINICA · APPOINTMENT &amp; PRESCRIPTION MANAGER</a:t>
            </a:r>
            <a:endParaRPr lang="en-US" sz="1200" dirty="0"/>
          </a:p>
        </p:txBody>
      </p:sp>
      <p:sp>
        <p:nvSpPr>
          <p:cNvPr id="16" name="Text 12"/>
          <p:cNvSpPr/>
          <p:nvPr/>
        </p:nvSpPr>
        <p:spPr>
          <a:xfrm>
            <a:off x="10693400" y="6238239"/>
            <a:ext cx="68580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4A5565"/>
                </a:solidFill>
                <a:latin typeface="Arial" pitchFamily="34" charset="0"/>
                <a:ea typeface="Arial" pitchFamily="34" charset="-122"/>
                <a:cs typeface="Arial" pitchFamily="34" charset="-120"/>
              </a:rPr>
              <a:t>05</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pic>
        <p:nvPicPr>
          <p:cNvPr id="2" name="Image 0" descr="Sparkle ornament">    </p:cNvPr>
          <p:cNvPicPr>
            <a:picLocks noChangeAspect="1"/>
          </p:cNvPicPr>
          <p:nvPr/>
        </p:nvPicPr>
        <p:blipFill>
          <a:blip r:embed="rId1"/>
          <a:srcRect l="0" r="0" t="0" b="0"/>
          <a:stretch/>
        </p:blipFill>
        <p:spPr>
          <a:xfrm>
            <a:off x="11074400" y="406400"/>
            <a:ext cx="304800" cy="304800"/>
          </a:xfrm>
          <a:prstGeom prst="rect">
            <a:avLst/>
          </a:prstGeom>
        </p:spPr>
      </p:pic>
      <p:pic>
        <p:nvPicPr>
          <p:cNvPr id="3" name="Image 1" descr="line">    </p:cNvPr>
          <p:cNvPicPr>
            <a:picLocks noChangeAspect="1"/>
          </p:cNvPicPr>
          <p:nvPr/>
        </p:nvPicPr>
        <p:blipFill>
          <a:blip r:embed="rId2"/>
          <a:srcRect l="0" r="0" t="-3333" b="-3333"/>
          <a:stretch/>
        </p:blipFill>
        <p:spPr>
          <a:xfrm>
            <a:off x="812800" y="457200"/>
            <a:ext cx="1524000" cy="20320"/>
          </a:xfrm>
          <a:prstGeom prst="rect">
            <a:avLst/>
          </a:prstGeom>
        </p:spPr>
      </p:pic>
      <p:sp>
        <p:nvSpPr>
          <p:cNvPr id="4"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spc="300" kern="0" dirty="0">
                <a:solidFill>
                  <a:srgbClr val="2B3340"/>
                </a:solidFill>
                <a:latin typeface="Arial" pitchFamily="34" charset="0"/>
                <a:ea typeface="Arial" pitchFamily="34" charset="-122"/>
                <a:cs typeface="Arial" pitchFamily="34" charset="-120"/>
              </a:rPr>
              <a:t>MODULE 4</a:t>
            </a:r>
            <a:endParaRPr lang="en-US" sz="1200" dirty="0"/>
          </a:p>
        </p:txBody>
      </p:sp>
      <p:sp>
        <p:nvSpPr>
          <p:cNvPr id="5" name="Text 1"/>
          <p:cNvSpPr/>
          <p:nvPr>
            <p:ph type="title"/>
          </p:nvPr>
        </p:nvSpPr>
        <p:spPr>
          <a:xfrm>
            <a:off x="812800" y="1076961"/>
            <a:ext cx="10883392" cy="528320"/>
          </a:xfrm>
          <a:prstGeom prst="rect">
            <a:avLst/>
          </a:prstGeom>
          <a:noFill/>
          <a:ln/>
        </p:spPr>
        <p:txBody>
          <a:bodyPr wrap="square" lIns="0" tIns="0" rIns="0" bIns="0" rtlCol="0" anchor="t">
            <a:normAutofit/>
          </a:bodyPr>
          <a:lstStyle/>
          <a:p>
            <a:pPr algn="l" indent="0" marL="0">
              <a:lnSpc>
                <a:spcPts val="3960"/>
              </a:lnSpc>
              <a:buNone/>
            </a:pPr>
            <a:r>
              <a:rPr lang="en-US" sz="3600" b="0" i="0" spc="200" kern="0" dirty="0">
                <a:solidFill>
                  <a:srgbClr val="14181F"/>
                </a:solidFill>
                <a:latin typeface="Georgia" pitchFamily="18" charset="0"/>
                <a:ea typeface="Georgia" pitchFamily="18" charset="-122"/>
                <a:cs typeface="Georgia" pitchFamily="18" charset="-120"/>
              </a:rPr>
              <a:t>OBJECTS &amp; EXCEPTIONS</a:t>
            </a:r>
            <a:endParaRPr lang="en-US" sz="3600" dirty="0"/>
          </a:p>
        </p:txBody>
      </p:sp>
      <p:sp>
        <p:nvSpPr>
          <p:cNvPr id="6" name="Shape 2"/>
          <p:cNvSpPr/>
          <p:nvPr/>
        </p:nvSpPr>
        <p:spPr>
          <a:xfrm>
            <a:off x="819150" y="1840232"/>
            <a:ext cx="5194300" cy="1485900"/>
          </a:xfrm>
          <a:prstGeom prst="roundRect">
            <a:avLst>
              <a:gd name="adj" fmla="val 14957"/>
            </a:avLst>
          </a:prstGeom>
          <a:solidFill>
            <a:srgbClr val="FFFFFF">
              <a:alpha val="55000"/>
            </a:srgbClr>
          </a:solidFill>
          <a:ln w="12700">
            <a:solidFill>
              <a:srgbClr val="14181F"/>
            </a:solidFill>
            <a:prstDash val="solid"/>
          </a:ln>
        </p:spPr>
      </p:sp>
      <p:sp>
        <p:nvSpPr>
          <p:cNvPr id="7" name="Text 3"/>
          <p:cNvSpPr/>
          <p:nvPr/>
        </p:nvSpPr>
        <p:spPr>
          <a:xfrm>
            <a:off x="1076960" y="2047239"/>
            <a:ext cx="4819040" cy="314960"/>
          </a:xfrm>
          <a:prstGeom prst="rect">
            <a:avLst/>
          </a:prstGeom>
          <a:noFill/>
          <a:ln/>
        </p:spPr>
        <p:txBody>
          <a:bodyPr wrap="square" lIns="0" tIns="0" rIns="0" bIns="0" rtlCol="0" anchor="t">
            <a:normAutofit/>
          </a:bodyPr>
          <a:lstStyle/>
          <a:p>
            <a:pPr algn="l" indent="0" marL="0">
              <a:lnSpc>
                <a:spcPts val="2280"/>
              </a:lnSpc>
              <a:buNone/>
            </a:pPr>
            <a:r>
              <a:rPr lang="en-US" sz="1900" dirty="0">
                <a:solidFill>
                  <a:srgbClr val="14181F"/>
                </a:solidFill>
                <a:latin typeface="Georgia" pitchFamily="18" charset="0"/>
                <a:ea typeface="Georgia" pitchFamily="18" charset="-122"/>
                <a:cs typeface="Georgia" pitchFamily="18" charset="-120"/>
              </a:rPr>
              <a:t>Classes &amp; Objects</a:t>
            </a:r>
            <a:endParaRPr lang="en-US" sz="1900" dirty="0"/>
          </a:p>
        </p:txBody>
      </p:sp>
      <p:sp>
        <p:nvSpPr>
          <p:cNvPr id="8" name="Text 4"/>
          <p:cNvSpPr/>
          <p:nvPr/>
        </p:nvSpPr>
        <p:spPr>
          <a:xfrm>
            <a:off x="1076960" y="2425700"/>
            <a:ext cx="4819040" cy="71882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2B3340"/>
                </a:solidFill>
                <a:latin typeface="Arial" pitchFamily="34" charset="0"/>
                <a:ea typeface="Arial" pitchFamily="34" charset="-122"/>
                <a:cs typeface="Arial" pitchFamily="34" charset="-120"/>
              </a:rPr>
              <a:t>Patient, Doctor, Appointment and Prescription are blueprints. Objects are created with new, using default and parameterized constructors, constructor overloading and this.</a:t>
            </a:r>
            <a:endParaRPr lang="en-US" sz="1300" dirty="0"/>
          </a:p>
        </p:txBody>
      </p:sp>
      <p:sp>
        <p:nvSpPr>
          <p:cNvPr id="9" name="Shape 5"/>
          <p:cNvSpPr/>
          <p:nvPr/>
        </p:nvSpPr>
        <p:spPr>
          <a:xfrm>
            <a:off x="6178550" y="1840232"/>
            <a:ext cx="5194300" cy="1485900"/>
          </a:xfrm>
          <a:prstGeom prst="roundRect">
            <a:avLst>
              <a:gd name="adj" fmla="val 14957"/>
            </a:avLst>
          </a:prstGeom>
          <a:solidFill>
            <a:srgbClr val="FFFFFF">
              <a:alpha val="55000"/>
            </a:srgbClr>
          </a:solidFill>
          <a:ln w="12700">
            <a:solidFill>
              <a:srgbClr val="14181F"/>
            </a:solidFill>
            <a:prstDash val="solid"/>
          </a:ln>
        </p:spPr>
      </p:sp>
      <p:sp>
        <p:nvSpPr>
          <p:cNvPr id="10" name="Text 6"/>
          <p:cNvSpPr/>
          <p:nvPr/>
        </p:nvSpPr>
        <p:spPr>
          <a:xfrm>
            <a:off x="6436360" y="2047239"/>
            <a:ext cx="4819040" cy="314960"/>
          </a:xfrm>
          <a:prstGeom prst="rect">
            <a:avLst/>
          </a:prstGeom>
          <a:noFill/>
          <a:ln/>
        </p:spPr>
        <p:txBody>
          <a:bodyPr wrap="square" lIns="0" tIns="0" rIns="0" bIns="0" rtlCol="0" anchor="t">
            <a:normAutofit/>
          </a:bodyPr>
          <a:lstStyle/>
          <a:p>
            <a:pPr algn="l" indent="0" marL="0">
              <a:lnSpc>
                <a:spcPts val="2280"/>
              </a:lnSpc>
              <a:buNone/>
            </a:pPr>
            <a:r>
              <a:rPr lang="en-US" sz="1900" dirty="0">
                <a:solidFill>
                  <a:srgbClr val="14181F"/>
                </a:solidFill>
                <a:latin typeface="Georgia" pitchFamily="18" charset="0"/>
                <a:ea typeface="Georgia" pitchFamily="18" charset="-122"/>
                <a:cs typeface="Georgia" pitchFamily="18" charset="-120"/>
              </a:rPr>
              <a:t>Encapsulation</a:t>
            </a:r>
            <a:endParaRPr lang="en-US" sz="1900" dirty="0"/>
          </a:p>
        </p:txBody>
      </p:sp>
      <p:sp>
        <p:nvSpPr>
          <p:cNvPr id="11" name="Text 7"/>
          <p:cNvSpPr/>
          <p:nvPr/>
        </p:nvSpPr>
        <p:spPr>
          <a:xfrm>
            <a:off x="6436360" y="2425700"/>
            <a:ext cx="4819040" cy="71882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2B3340"/>
                </a:solidFill>
                <a:latin typeface="Arial" pitchFamily="34" charset="0"/>
                <a:ea typeface="Arial" pitchFamily="34" charset="-122"/>
                <a:cs typeface="Arial" pitchFamily="34" charset="-120"/>
              </a:rPr>
              <a:t>Private fields with getters and setters hide the data. A static counter generates appointment IDs, constants hold fees, and toString() prints each record.</a:t>
            </a:r>
            <a:endParaRPr lang="en-US" sz="1300" dirty="0"/>
          </a:p>
        </p:txBody>
      </p:sp>
      <p:sp>
        <p:nvSpPr>
          <p:cNvPr id="12" name="Shape 8"/>
          <p:cNvSpPr/>
          <p:nvPr/>
        </p:nvSpPr>
        <p:spPr>
          <a:xfrm>
            <a:off x="819150" y="3491232"/>
            <a:ext cx="5194300" cy="1485900"/>
          </a:xfrm>
          <a:prstGeom prst="roundRect">
            <a:avLst>
              <a:gd name="adj" fmla="val 14957"/>
            </a:avLst>
          </a:prstGeom>
          <a:solidFill>
            <a:srgbClr val="FFFFFF">
              <a:alpha val="55000"/>
            </a:srgbClr>
          </a:solidFill>
          <a:ln w="12700">
            <a:solidFill>
              <a:srgbClr val="14181F"/>
            </a:solidFill>
            <a:prstDash val="solid"/>
          </a:ln>
        </p:spPr>
      </p:sp>
      <p:sp>
        <p:nvSpPr>
          <p:cNvPr id="13" name="Text 9"/>
          <p:cNvSpPr/>
          <p:nvPr/>
        </p:nvSpPr>
        <p:spPr>
          <a:xfrm>
            <a:off x="1076960" y="3698239"/>
            <a:ext cx="4819040" cy="314960"/>
          </a:xfrm>
          <a:prstGeom prst="rect">
            <a:avLst/>
          </a:prstGeom>
          <a:noFill/>
          <a:ln/>
        </p:spPr>
        <p:txBody>
          <a:bodyPr wrap="square" lIns="0" tIns="0" rIns="0" bIns="0" rtlCol="0" anchor="t">
            <a:normAutofit/>
          </a:bodyPr>
          <a:lstStyle/>
          <a:p>
            <a:pPr algn="l" indent="0" marL="0">
              <a:lnSpc>
                <a:spcPts val="2280"/>
              </a:lnSpc>
              <a:buNone/>
            </a:pPr>
            <a:r>
              <a:rPr lang="en-US" sz="1900" dirty="0">
                <a:solidFill>
                  <a:srgbClr val="14181F"/>
                </a:solidFill>
                <a:latin typeface="Georgia" pitchFamily="18" charset="0"/>
                <a:ea typeface="Georgia" pitchFamily="18" charset="-122"/>
                <a:cs typeface="Georgia" pitchFamily="18" charset="-120"/>
              </a:rPr>
              <a:t>Inheritance &amp; Interfaces</a:t>
            </a:r>
            <a:endParaRPr lang="en-US" sz="1900" dirty="0"/>
          </a:p>
        </p:txBody>
      </p:sp>
      <p:sp>
        <p:nvSpPr>
          <p:cNvPr id="14" name="Text 10"/>
          <p:cNvSpPr/>
          <p:nvPr/>
        </p:nvSpPr>
        <p:spPr>
          <a:xfrm>
            <a:off x="1076960" y="4076700"/>
            <a:ext cx="4819040" cy="71882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2B3340"/>
                </a:solidFill>
                <a:latin typeface="Arial" pitchFamily="34" charset="0"/>
                <a:ea typeface="Arial" pitchFamily="34" charset="-122"/>
                <a:cs typeface="Arial" pitchFamily="34" charset="-120"/>
              </a:rPr>
              <a:t>Patient and Doctor extend Person (an is-a relationship) and override toString(). A Billable interface lets the code work against the interface, not the class.</a:t>
            </a:r>
            <a:endParaRPr lang="en-US" sz="1300" dirty="0"/>
          </a:p>
        </p:txBody>
      </p:sp>
      <p:sp>
        <p:nvSpPr>
          <p:cNvPr id="15" name="Shape 11"/>
          <p:cNvSpPr/>
          <p:nvPr/>
        </p:nvSpPr>
        <p:spPr>
          <a:xfrm>
            <a:off x="6178550" y="3491232"/>
            <a:ext cx="5194300" cy="1485900"/>
          </a:xfrm>
          <a:prstGeom prst="roundRect">
            <a:avLst>
              <a:gd name="adj" fmla="val 14957"/>
            </a:avLst>
          </a:prstGeom>
          <a:solidFill>
            <a:srgbClr val="FFFFFF">
              <a:alpha val="55000"/>
            </a:srgbClr>
          </a:solidFill>
          <a:ln w="12700">
            <a:solidFill>
              <a:srgbClr val="14181F"/>
            </a:solidFill>
            <a:prstDash val="solid"/>
          </a:ln>
        </p:spPr>
      </p:sp>
      <p:sp>
        <p:nvSpPr>
          <p:cNvPr id="16" name="Text 12"/>
          <p:cNvSpPr/>
          <p:nvPr/>
        </p:nvSpPr>
        <p:spPr>
          <a:xfrm>
            <a:off x="6436360" y="3698239"/>
            <a:ext cx="4819040" cy="314960"/>
          </a:xfrm>
          <a:prstGeom prst="rect">
            <a:avLst/>
          </a:prstGeom>
          <a:noFill/>
          <a:ln/>
        </p:spPr>
        <p:txBody>
          <a:bodyPr wrap="square" lIns="0" tIns="0" rIns="0" bIns="0" rtlCol="0" anchor="t">
            <a:normAutofit/>
          </a:bodyPr>
          <a:lstStyle/>
          <a:p>
            <a:pPr algn="l" indent="0" marL="0">
              <a:lnSpc>
                <a:spcPts val="2280"/>
              </a:lnSpc>
              <a:buNone/>
            </a:pPr>
            <a:r>
              <a:rPr lang="en-US" sz="1900" dirty="0">
                <a:solidFill>
                  <a:srgbClr val="14181F"/>
                </a:solidFill>
                <a:latin typeface="Georgia" pitchFamily="18" charset="0"/>
                <a:ea typeface="Georgia" pitchFamily="18" charset="-122"/>
                <a:cs typeface="Georgia" pitchFamily="18" charset="-120"/>
              </a:rPr>
              <a:t>Exception Handling</a:t>
            </a:r>
            <a:endParaRPr lang="en-US" sz="1900" dirty="0"/>
          </a:p>
        </p:txBody>
      </p:sp>
      <p:sp>
        <p:nvSpPr>
          <p:cNvPr id="17" name="Text 13"/>
          <p:cNvSpPr/>
          <p:nvPr/>
        </p:nvSpPr>
        <p:spPr>
          <a:xfrm>
            <a:off x="6436360" y="4076700"/>
            <a:ext cx="4819040" cy="71882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2B3340"/>
                </a:solidFill>
                <a:latin typeface="Arial" pitchFamily="34" charset="0"/>
                <a:ea typeface="Arial" pitchFamily="34" charset="-122"/>
                <a:cs typeface="Arial" pitchFamily="34" charset="-120"/>
              </a:rPr>
              <a:t>try-catch-finally and multi-catch guard bad input. A custom SlotUnavailableException is raised with throw and declared with throws.</a:t>
            </a:r>
            <a:endParaRPr lang="en-US" sz="1300" dirty="0"/>
          </a:p>
        </p:txBody>
      </p:sp>
      <p:sp>
        <p:nvSpPr>
          <p:cNvPr id="18" name="Text 14"/>
          <p:cNvSpPr/>
          <p:nvPr/>
        </p:nvSpPr>
        <p:spPr>
          <a:xfrm>
            <a:off x="812800" y="6238239"/>
            <a:ext cx="6540500" cy="23876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4A5565"/>
                </a:solidFill>
                <a:latin typeface="Arial" pitchFamily="34" charset="0"/>
                <a:ea typeface="Arial" pitchFamily="34" charset="-122"/>
                <a:cs typeface="Arial" pitchFamily="34" charset="-120"/>
              </a:rPr>
              <a:t>CLINICA · APPOINTMENT &amp; PRESCRIPTION MANAGER</a:t>
            </a:r>
            <a:endParaRPr lang="en-US" sz="1200" dirty="0"/>
          </a:p>
        </p:txBody>
      </p:sp>
      <p:sp>
        <p:nvSpPr>
          <p:cNvPr id="19" name="Text 15"/>
          <p:cNvSpPr/>
          <p:nvPr/>
        </p:nvSpPr>
        <p:spPr>
          <a:xfrm>
            <a:off x="10693400" y="6238239"/>
            <a:ext cx="68580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4A5565"/>
                </a:solidFill>
                <a:latin typeface="Arial" pitchFamily="34" charset="0"/>
                <a:ea typeface="Arial" pitchFamily="34" charset="-122"/>
                <a:cs typeface="Arial" pitchFamily="34" charset="-120"/>
              </a:rPr>
              <a:t>06</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pic>
        <p:nvPicPr>
          <p:cNvPr id="2" name="Image 0" descr="Sparkle ornament">    </p:cNvPr>
          <p:cNvPicPr>
            <a:picLocks noChangeAspect="1"/>
          </p:cNvPicPr>
          <p:nvPr/>
        </p:nvPicPr>
        <p:blipFill>
          <a:blip r:embed="rId1"/>
          <a:srcRect l="0" r="0" t="0" b="0"/>
          <a:stretch/>
        </p:blipFill>
        <p:spPr>
          <a:xfrm>
            <a:off x="11074400" y="406400"/>
            <a:ext cx="304800" cy="304800"/>
          </a:xfrm>
          <a:prstGeom prst="rect">
            <a:avLst/>
          </a:prstGeom>
        </p:spPr>
      </p:pic>
      <p:pic>
        <p:nvPicPr>
          <p:cNvPr id="3" name="Image 1" descr="line">    </p:cNvPr>
          <p:cNvPicPr>
            <a:picLocks noChangeAspect="1"/>
          </p:cNvPicPr>
          <p:nvPr/>
        </p:nvPicPr>
        <p:blipFill>
          <a:blip r:embed="rId2"/>
          <a:srcRect l="0" r="0" t="-3333" b="-3333"/>
          <a:stretch/>
        </p:blipFill>
        <p:spPr>
          <a:xfrm>
            <a:off x="812800" y="457200"/>
            <a:ext cx="1524000" cy="20320"/>
          </a:xfrm>
          <a:prstGeom prst="rect">
            <a:avLst/>
          </a:prstGeom>
        </p:spPr>
      </p:pic>
      <p:sp>
        <p:nvSpPr>
          <p:cNvPr id="4"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spc="300" kern="0" dirty="0">
                <a:solidFill>
                  <a:srgbClr val="2B3340"/>
                </a:solidFill>
                <a:latin typeface="Arial" pitchFamily="34" charset="0"/>
                <a:ea typeface="Arial" pitchFamily="34" charset="-122"/>
                <a:cs typeface="Arial" pitchFamily="34" charset="-120"/>
              </a:rPr>
              <a:t>MODULE 5</a:t>
            </a:r>
            <a:endParaRPr lang="en-US" sz="1200" dirty="0"/>
          </a:p>
        </p:txBody>
      </p:sp>
      <p:sp>
        <p:nvSpPr>
          <p:cNvPr id="5" name="Text 1"/>
          <p:cNvSpPr/>
          <p:nvPr>
            <p:ph type="title"/>
          </p:nvPr>
        </p:nvSpPr>
        <p:spPr>
          <a:xfrm>
            <a:off x="812800" y="1076961"/>
            <a:ext cx="10883392" cy="528320"/>
          </a:xfrm>
          <a:prstGeom prst="rect">
            <a:avLst/>
          </a:prstGeom>
          <a:noFill/>
          <a:ln/>
        </p:spPr>
        <p:txBody>
          <a:bodyPr wrap="square" lIns="0" tIns="0" rIns="0" bIns="0" rtlCol="0" anchor="t">
            <a:normAutofit/>
          </a:bodyPr>
          <a:lstStyle/>
          <a:p>
            <a:pPr algn="l" indent="0" marL="0">
              <a:lnSpc>
                <a:spcPts val="3960"/>
              </a:lnSpc>
              <a:buNone/>
            </a:pPr>
            <a:r>
              <a:rPr lang="en-US" sz="3600" b="0" i="0" spc="200" kern="0" dirty="0">
                <a:solidFill>
                  <a:srgbClr val="14181F"/>
                </a:solidFill>
                <a:latin typeface="Georgia" pitchFamily="18" charset="0"/>
                <a:ea typeface="Georgia" pitchFamily="18" charset="-122"/>
                <a:cs typeface="Georgia" pitchFamily="18" charset="-120"/>
              </a:rPr>
              <a:t>STRINGS, ALGORITHMS &amp; FILES</a:t>
            </a:r>
            <a:endParaRPr lang="en-US" sz="3600" dirty="0"/>
          </a:p>
        </p:txBody>
      </p:sp>
      <p:sp>
        <p:nvSpPr>
          <p:cNvPr id="6" name="Shape 2"/>
          <p:cNvSpPr/>
          <p:nvPr/>
        </p:nvSpPr>
        <p:spPr>
          <a:xfrm>
            <a:off x="819150" y="1891032"/>
            <a:ext cx="3373914" cy="2853690"/>
          </a:xfrm>
          <a:prstGeom prst="roundRect">
            <a:avLst>
              <a:gd name="adj" fmla="val 8678"/>
            </a:avLst>
          </a:prstGeom>
          <a:solidFill>
            <a:srgbClr val="FFFFFF">
              <a:alpha val="55000"/>
            </a:srgbClr>
          </a:solidFill>
          <a:ln w="12700">
            <a:solidFill>
              <a:srgbClr val="14181F"/>
            </a:solidFill>
            <a:prstDash val="solid"/>
          </a:ln>
        </p:spPr>
      </p:sp>
      <p:sp>
        <p:nvSpPr>
          <p:cNvPr id="7" name="Text 3"/>
          <p:cNvSpPr/>
          <p:nvPr/>
        </p:nvSpPr>
        <p:spPr>
          <a:xfrm>
            <a:off x="1127760" y="2199639"/>
            <a:ext cx="2839395" cy="330200"/>
          </a:xfrm>
          <a:prstGeom prst="rect">
            <a:avLst/>
          </a:prstGeom>
          <a:noFill/>
          <a:ln/>
        </p:spPr>
        <p:txBody>
          <a:bodyPr wrap="square" lIns="0" tIns="0" rIns="0" bIns="0" rtlCol="0" anchor="t">
            <a:normAutofit/>
          </a:bodyPr>
          <a:lstStyle/>
          <a:p>
            <a:pPr algn="l" indent="0" marL="0">
              <a:lnSpc>
                <a:spcPts val="2400"/>
              </a:lnSpc>
              <a:buNone/>
            </a:pPr>
            <a:r>
              <a:rPr lang="en-US" sz="2000" dirty="0">
                <a:solidFill>
                  <a:srgbClr val="14181F"/>
                </a:solidFill>
                <a:latin typeface="Georgia" pitchFamily="18" charset="0"/>
                <a:ea typeface="Georgia" pitchFamily="18" charset="-122"/>
                <a:cs typeface="Georgia" pitchFamily="18" charset="-120"/>
              </a:rPr>
              <a:t>Strings</a:t>
            </a:r>
            <a:endParaRPr lang="en-US" sz="2000" dirty="0"/>
          </a:p>
        </p:txBody>
      </p:sp>
      <p:sp>
        <p:nvSpPr>
          <p:cNvPr id="8" name="Text 4"/>
          <p:cNvSpPr/>
          <p:nvPr/>
        </p:nvSpPr>
        <p:spPr>
          <a:xfrm>
            <a:off x="1127760" y="2631439"/>
            <a:ext cx="2839395" cy="1572260"/>
          </a:xfrm>
          <a:prstGeom prst="rect">
            <a:avLst/>
          </a:prstGeom>
          <a:noFill/>
          <a:ln/>
        </p:spPr>
        <p:txBody>
          <a:bodyPr wrap="square" lIns="0" tIns="0" rIns="0" bIns="0" rtlCol="0" anchor="t">
            <a:normAutofit/>
          </a:bodyPr>
          <a:lstStyle/>
          <a:p>
            <a:pPr algn="l" indent="0" marL="0">
              <a:lnSpc>
                <a:spcPts val="2030"/>
              </a:lnSpc>
              <a:buNone/>
            </a:pPr>
            <a:r>
              <a:rPr lang="en-US" sz="1400" dirty="0">
                <a:solidFill>
                  <a:srgbClr val="2B3340"/>
                </a:solidFill>
                <a:latin typeface="Arial" pitchFamily="34" charset="0"/>
                <a:ea typeface="Arial" pitchFamily="34" charset="-122"/>
                <a:cs typeface="Arial" pitchFamily="34" charset="-120"/>
              </a:rPr>
              <a:t>Strings are immutable, so equals() compares values while == compares references. substring, trim and case conversion clean input, split() parses a record, and StringBuilder builds the receipt.</a:t>
            </a:r>
            <a:endParaRPr lang="en-US" sz="1400" dirty="0"/>
          </a:p>
        </p:txBody>
      </p:sp>
      <p:sp>
        <p:nvSpPr>
          <p:cNvPr id="9" name="Shape 5"/>
          <p:cNvSpPr/>
          <p:nvPr/>
        </p:nvSpPr>
        <p:spPr>
          <a:xfrm>
            <a:off x="4408964" y="1891032"/>
            <a:ext cx="3373993" cy="2853690"/>
          </a:xfrm>
          <a:prstGeom prst="roundRect">
            <a:avLst>
              <a:gd name="adj" fmla="val 8678"/>
            </a:avLst>
          </a:prstGeom>
          <a:solidFill>
            <a:srgbClr val="FFFFFF">
              <a:alpha val="55000"/>
            </a:srgbClr>
          </a:solidFill>
          <a:ln w="12700">
            <a:solidFill>
              <a:srgbClr val="14181F"/>
            </a:solidFill>
            <a:prstDash val="solid"/>
          </a:ln>
        </p:spPr>
      </p:sp>
      <p:sp>
        <p:nvSpPr>
          <p:cNvPr id="10" name="Text 6"/>
          <p:cNvSpPr/>
          <p:nvPr/>
        </p:nvSpPr>
        <p:spPr>
          <a:xfrm>
            <a:off x="4717574" y="2199639"/>
            <a:ext cx="2839476" cy="330200"/>
          </a:xfrm>
          <a:prstGeom prst="rect">
            <a:avLst/>
          </a:prstGeom>
          <a:noFill/>
          <a:ln/>
        </p:spPr>
        <p:txBody>
          <a:bodyPr wrap="square" lIns="0" tIns="0" rIns="0" bIns="0" rtlCol="0" anchor="t">
            <a:normAutofit/>
          </a:bodyPr>
          <a:lstStyle/>
          <a:p>
            <a:pPr algn="l" indent="0" marL="0">
              <a:lnSpc>
                <a:spcPts val="2400"/>
              </a:lnSpc>
              <a:buNone/>
            </a:pPr>
            <a:r>
              <a:rPr lang="en-US" sz="2000" dirty="0">
                <a:solidFill>
                  <a:srgbClr val="14181F"/>
                </a:solidFill>
                <a:latin typeface="Georgia" pitchFamily="18" charset="0"/>
                <a:ea typeface="Georgia" pitchFamily="18" charset="-122"/>
                <a:cs typeface="Georgia" pitchFamily="18" charset="-120"/>
              </a:rPr>
              <a:t>Sorting &amp; Searching</a:t>
            </a:r>
            <a:endParaRPr lang="en-US" sz="2000" dirty="0"/>
          </a:p>
        </p:txBody>
      </p:sp>
      <p:sp>
        <p:nvSpPr>
          <p:cNvPr id="11" name="Text 7"/>
          <p:cNvSpPr/>
          <p:nvPr/>
        </p:nvSpPr>
        <p:spPr>
          <a:xfrm>
            <a:off x="4717574" y="2631439"/>
            <a:ext cx="2839476" cy="1572260"/>
          </a:xfrm>
          <a:prstGeom prst="rect">
            <a:avLst/>
          </a:prstGeom>
          <a:noFill/>
          <a:ln/>
        </p:spPr>
        <p:txBody>
          <a:bodyPr wrap="square" lIns="0" tIns="0" rIns="0" bIns="0" rtlCol="0" anchor="t">
            <a:normAutofit/>
          </a:bodyPr>
          <a:lstStyle/>
          <a:p>
            <a:pPr algn="l" indent="0" marL="0">
              <a:lnSpc>
                <a:spcPts val="2030"/>
              </a:lnSpc>
              <a:buNone/>
            </a:pPr>
            <a:r>
              <a:rPr lang="en-US" sz="1400" dirty="0">
                <a:solidFill>
                  <a:srgbClr val="2B3340"/>
                </a:solidFill>
                <a:latin typeface="Arial" pitchFamily="34" charset="0"/>
                <a:ea typeface="Arial" pitchFamily="34" charset="-122"/>
                <a:cs typeface="Arial" pitchFamily="34" charset="-120"/>
              </a:rPr>
              <a:t>Arrays.sort, Collections.sort and Arrays.binarySearch handle lookups. Comparable orders appointments by time, and a Comparator re-sorts them by doctor or patient name.</a:t>
            </a:r>
            <a:endParaRPr lang="en-US" sz="1400" dirty="0"/>
          </a:p>
        </p:txBody>
      </p:sp>
      <p:sp>
        <p:nvSpPr>
          <p:cNvPr id="12" name="Shape 8"/>
          <p:cNvSpPr/>
          <p:nvPr/>
        </p:nvSpPr>
        <p:spPr>
          <a:xfrm>
            <a:off x="7998857" y="1891032"/>
            <a:ext cx="3373993" cy="2853690"/>
          </a:xfrm>
          <a:prstGeom prst="roundRect">
            <a:avLst>
              <a:gd name="adj" fmla="val 8678"/>
            </a:avLst>
          </a:prstGeom>
          <a:solidFill>
            <a:srgbClr val="FFFFFF">
              <a:alpha val="55000"/>
            </a:srgbClr>
          </a:solidFill>
          <a:ln w="12700">
            <a:solidFill>
              <a:srgbClr val="14181F"/>
            </a:solidFill>
            <a:prstDash val="solid"/>
          </a:ln>
        </p:spPr>
      </p:sp>
      <p:sp>
        <p:nvSpPr>
          <p:cNvPr id="13" name="Text 9"/>
          <p:cNvSpPr/>
          <p:nvPr/>
        </p:nvSpPr>
        <p:spPr>
          <a:xfrm>
            <a:off x="8307467" y="2199639"/>
            <a:ext cx="2839476" cy="330200"/>
          </a:xfrm>
          <a:prstGeom prst="rect">
            <a:avLst/>
          </a:prstGeom>
          <a:noFill/>
          <a:ln/>
        </p:spPr>
        <p:txBody>
          <a:bodyPr wrap="square" lIns="0" tIns="0" rIns="0" bIns="0" rtlCol="0" anchor="t">
            <a:normAutofit/>
          </a:bodyPr>
          <a:lstStyle/>
          <a:p>
            <a:pPr algn="l" indent="0" marL="0">
              <a:lnSpc>
                <a:spcPts val="2400"/>
              </a:lnSpc>
              <a:buNone/>
            </a:pPr>
            <a:r>
              <a:rPr lang="en-US" sz="2000" dirty="0">
                <a:solidFill>
                  <a:srgbClr val="14181F"/>
                </a:solidFill>
                <a:latin typeface="Georgia" pitchFamily="18" charset="0"/>
                <a:ea typeface="Georgia" pitchFamily="18" charset="-122"/>
                <a:cs typeface="Georgia" pitchFamily="18" charset="-120"/>
              </a:rPr>
              <a:t>File I/O</a:t>
            </a:r>
            <a:endParaRPr lang="en-US" sz="2000" dirty="0"/>
          </a:p>
        </p:txBody>
      </p:sp>
      <p:sp>
        <p:nvSpPr>
          <p:cNvPr id="14" name="Text 10"/>
          <p:cNvSpPr/>
          <p:nvPr/>
        </p:nvSpPr>
        <p:spPr>
          <a:xfrm>
            <a:off x="8307467" y="2631439"/>
            <a:ext cx="2839476" cy="1830070"/>
          </a:xfrm>
          <a:prstGeom prst="rect">
            <a:avLst/>
          </a:prstGeom>
          <a:noFill/>
          <a:ln/>
        </p:spPr>
        <p:txBody>
          <a:bodyPr wrap="square" lIns="0" tIns="0" rIns="0" bIns="0" rtlCol="0" anchor="t">
            <a:normAutofit/>
          </a:bodyPr>
          <a:lstStyle/>
          <a:p>
            <a:pPr algn="l" indent="0" marL="0">
              <a:lnSpc>
                <a:spcPts val="2030"/>
              </a:lnSpc>
              <a:buNone/>
            </a:pPr>
            <a:r>
              <a:rPr lang="en-US" sz="1400" dirty="0">
                <a:solidFill>
                  <a:srgbClr val="2B3340"/>
                </a:solidFill>
                <a:latin typeface="Arial" pitchFamily="34" charset="0"/>
                <a:ea typeface="Arial" pitchFamily="34" charset="-122"/>
                <a:cs typeface="Arial" pitchFamily="34" charset="-120"/>
              </a:rPr>
              <a:t>Files and Path save appointments to a text file. Records are read line by line, new bookings are appended, missing files and malformed records are handled, and try-with-resources closes the streams.</a:t>
            </a:r>
            <a:endParaRPr lang="en-US" sz="1400" dirty="0"/>
          </a:p>
        </p:txBody>
      </p:sp>
      <p:sp>
        <p:nvSpPr>
          <p:cNvPr id="15" name="Text 11"/>
          <p:cNvSpPr/>
          <p:nvPr/>
        </p:nvSpPr>
        <p:spPr>
          <a:xfrm>
            <a:off x="812800" y="6238239"/>
            <a:ext cx="6540500" cy="23876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4A5565"/>
                </a:solidFill>
                <a:latin typeface="Arial" pitchFamily="34" charset="0"/>
                <a:ea typeface="Arial" pitchFamily="34" charset="-122"/>
                <a:cs typeface="Arial" pitchFamily="34" charset="-120"/>
              </a:rPr>
              <a:t>CLINICA · APPOINTMENT &amp; PRESCRIPTION MANAGER</a:t>
            </a:r>
            <a:endParaRPr lang="en-US" sz="1200" dirty="0"/>
          </a:p>
        </p:txBody>
      </p:sp>
      <p:sp>
        <p:nvSpPr>
          <p:cNvPr id="16" name="Text 12"/>
          <p:cNvSpPr/>
          <p:nvPr/>
        </p:nvSpPr>
        <p:spPr>
          <a:xfrm>
            <a:off x="10693400" y="6238239"/>
            <a:ext cx="68580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4A5565"/>
                </a:solidFill>
                <a:latin typeface="Arial" pitchFamily="34" charset="0"/>
                <a:ea typeface="Arial" pitchFamily="34" charset="-122"/>
                <a:cs typeface="Arial" pitchFamily="34" charset="-120"/>
              </a:rPr>
              <a:t>07</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pic>
        <p:nvPicPr>
          <p:cNvPr id="2" name="Image 0" descr="Sparkle ornament">    </p:cNvPr>
          <p:cNvPicPr>
            <a:picLocks noChangeAspect="1"/>
          </p:cNvPicPr>
          <p:nvPr/>
        </p:nvPicPr>
        <p:blipFill>
          <a:blip r:embed="rId1"/>
          <a:srcRect l="0" r="0" t="0" b="0"/>
          <a:stretch/>
        </p:blipFill>
        <p:spPr>
          <a:xfrm>
            <a:off x="11074400" y="406400"/>
            <a:ext cx="304800" cy="304800"/>
          </a:xfrm>
          <a:prstGeom prst="rect">
            <a:avLst/>
          </a:prstGeom>
        </p:spPr>
      </p:pic>
      <p:pic>
        <p:nvPicPr>
          <p:cNvPr id="3" name="Image 1" descr="line">    </p:cNvPr>
          <p:cNvPicPr>
            <a:picLocks noChangeAspect="1"/>
          </p:cNvPicPr>
          <p:nvPr/>
        </p:nvPicPr>
        <p:blipFill>
          <a:blip r:embed="rId2"/>
          <a:srcRect l="0" r="0" t="-3333" b="-3333"/>
          <a:stretch/>
        </p:blipFill>
        <p:spPr>
          <a:xfrm>
            <a:off x="812800" y="457200"/>
            <a:ext cx="1524000" cy="20320"/>
          </a:xfrm>
          <a:prstGeom prst="rect">
            <a:avLst/>
          </a:prstGeom>
        </p:spPr>
      </p:pic>
      <p:sp>
        <p:nvSpPr>
          <p:cNvPr id="4"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spc="300" kern="0" dirty="0">
                <a:solidFill>
                  <a:srgbClr val="2B3340"/>
                </a:solidFill>
                <a:latin typeface="Arial" pitchFamily="34" charset="0"/>
                <a:ea typeface="Arial" pitchFamily="34" charset="-122"/>
                <a:cs typeface="Arial" pitchFamily="34" charset="-120"/>
              </a:rPr>
              <a:t>MODULE 6</a:t>
            </a:r>
            <a:endParaRPr lang="en-US" sz="1200" dirty="0"/>
          </a:p>
        </p:txBody>
      </p:sp>
      <p:sp>
        <p:nvSpPr>
          <p:cNvPr id="5" name="Text 1"/>
          <p:cNvSpPr/>
          <p:nvPr>
            <p:ph type="title"/>
          </p:nvPr>
        </p:nvSpPr>
        <p:spPr>
          <a:xfrm>
            <a:off x="812800" y="1076961"/>
            <a:ext cx="10883392" cy="528320"/>
          </a:xfrm>
          <a:prstGeom prst="rect">
            <a:avLst/>
          </a:prstGeom>
          <a:noFill/>
          <a:ln/>
        </p:spPr>
        <p:txBody>
          <a:bodyPr wrap="square" lIns="0" tIns="0" rIns="0" bIns="0" rtlCol="0" anchor="t">
            <a:normAutofit/>
          </a:bodyPr>
          <a:lstStyle/>
          <a:p>
            <a:pPr algn="l" indent="0" marL="0">
              <a:lnSpc>
                <a:spcPts val="3960"/>
              </a:lnSpc>
              <a:buNone/>
            </a:pPr>
            <a:r>
              <a:rPr lang="en-US" sz="3600" b="0" i="0" spc="200" kern="0" dirty="0">
                <a:solidFill>
                  <a:srgbClr val="14181F"/>
                </a:solidFill>
                <a:latin typeface="Georgia" pitchFamily="18" charset="0"/>
                <a:ea typeface="Georgia" pitchFamily="18" charset="-122"/>
                <a:cs typeface="Georgia" pitchFamily="18" charset="-120"/>
              </a:rPr>
              <a:t>COLLECTIONS &amp; STREAMS</a:t>
            </a:r>
            <a:endParaRPr lang="en-US" sz="3600" dirty="0"/>
          </a:p>
        </p:txBody>
      </p:sp>
      <p:sp>
        <p:nvSpPr>
          <p:cNvPr id="6" name="Shape 2"/>
          <p:cNvSpPr/>
          <p:nvPr/>
        </p:nvSpPr>
        <p:spPr>
          <a:xfrm>
            <a:off x="819150" y="1891032"/>
            <a:ext cx="4575175" cy="3385820"/>
          </a:xfrm>
          <a:prstGeom prst="roundRect">
            <a:avLst>
              <a:gd name="adj" fmla="val 7314"/>
            </a:avLst>
          </a:prstGeom>
          <a:solidFill>
            <a:srgbClr val="FFFFFF">
              <a:alpha val="55000"/>
            </a:srgbClr>
          </a:solidFill>
          <a:ln w="12700">
            <a:solidFill>
              <a:srgbClr val="14181F"/>
            </a:solidFill>
            <a:prstDash val="solid"/>
          </a:ln>
        </p:spPr>
      </p:sp>
      <p:sp>
        <p:nvSpPr>
          <p:cNvPr id="7" name="Text 3"/>
          <p:cNvSpPr/>
          <p:nvPr/>
        </p:nvSpPr>
        <p:spPr>
          <a:xfrm>
            <a:off x="1127760" y="2199639"/>
            <a:ext cx="4076694" cy="330200"/>
          </a:xfrm>
          <a:prstGeom prst="rect">
            <a:avLst/>
          </a:prstGeom>
          <a:noFill/>
          <a:ln/>
        </p:spPr>
        <p:txBody>
          <a:bodyPr wrap="square" lIns="0" tIns="0" rIns="0" bIns="0" rtlCol="0" anchor="t">
            <a:normAutofit/>
          </a:bodyPr>
          <a:lstStyle/>
          <a:p>
            <a:pPr algn="l" indent="0" marL="0">
              <a:lnSpc>
                <a:spcPts val="2400"/>
              </a:lnSpc>
              <a:buNone/>
            </a:pPr>
            <a:r>
              <a:rPr lang="en-US" sz="2000" dirty="0">
                <a:solidFill>
                  <a:srgbClr val="14181F"/>
                </a:solidFill>
                <a:latin typeface="Georgia" pitchFamily="18" charset="0"/>
                <a:ea typeface="Georgia" pitchFamily="18" charset="-122"/>
                <a:cs typeface="Georgia" pitchFamily="18" charset="-120"/>
              </a:rPr>
              <a:t>Toolkit</a:t>
            </a:r>
            <a:endParaRPr lang="en-US" sz="2000" dirty="0"/>
          </a:p>
        </p:txBody>
      </p:sp>
      <p:sp>
        <p:nvSpPr>
          <p:cNvPr id="8" name="Text 4"/>
          <p:cNvSpPr/>
          <p:nvPr/>
        </p:nvSpPr>
        <p:spPr>
          <a:xfrm>
            <a:off x="1225804" y="2656839"/>
            <a:ext cx="3971030" cy="2336800"/>
          </a:xfrm>
          <a:prstGeom prst="rect">
            <a:avLst/>
          </a:prstGeom>
          <a:noFill/>
          <a:ln/>
        </p:spPr>
        <p:txBody>
          <a:bodyPr wrap="square" lIns="0" tIns="0" rIns="0" bIns="0" rtlCol="0" anchor="t">
            <a:normAutofit/>
          </a:bodyPr>
          <a:lstStyle/>
          <a:p>
            <a:pPr algn="l" marL="155956" indent="-155956">
              <a:lnSpc>
                <a:spcPts val="1820"/>
              </a:lnSpc>
              <a:buSzPct val="100000"/>
              <a:buChar char="•"/>
            </a:pPr>
            <a:r>
              <a:rPr lang="en-US" sz="1300" dirty="0">
                <a:solidFill>
                  <a:srgbClr val="2B3340"/>
                </a:solidFill>
                <a:latin typeface="Arial" pitchFamily="34" charset="0"/>
                <a:ea typeface="Arial" pitchFamily="34" charset="-122"/>
                <a:cs typeface="Arial" pitchFamily="34" charset="-120"/>
              </a:rPr>
              <a:t>ArrayList, HashMap and HashSet hold patients, doctors and medicines</a:t>
            </a:r>
            <a:endParaRPr lang="en-US" sz="1300" dirty="0"/>
          </a:p>
          <a:p>
            <a:pPr algn="l" marL="155956" indent="-155956">
              <a:lnSpc>
                <a:spcPts val="1820"/>
              </a:lnSpc>
              <a:buSzPct val="100000"/>
              <a:buChar char="•"/>
            </a:pPr>
            <a:r>
              <a:rPr lang="en-US" sz="1300" dirty="0">
                <a:solidFill>
                  <a:srgbClr val="2B3340"/>
                </a:solidFill>
                <a:latin typeface="Arial" pitchFamily="34" charset="0"/>
                <a:ea typeface="Arial" pitchFamily="34" charset="-122"/>
                <a:cs typeface="Arial" pitchFamily="34" charset="-120"/>
              </a:rPr>
              <a:t>Generics such as List&lt;Appointment&gt; give type safety</a:t>
            </a:r>
            <a:endParaRPr lang="en-US" sz="1300" dirty="0"/>
          </a:p>
          <a:p>
            <a:pPr algn="l" marL="155956" indent="-155956">
              <a:lnSpc>
                <a:spcPts val="1820"/>
              </a:lnSpc>
              <a:buSzPct val="100000"/>
              <a:buChar char="•"/>
            </a:pPr>
            <a:r>
              <a:rPr lang="en-US" sz="1300" dirty="0">
                <a:solidFill>
                  <a:srgbClr val="2B3340"/>
                </a:solidFill>
                <a:latin typeface="Arial" pitchFamily="34" charset="0"/>
                <a:ea typeface="Arial" pitchFamily="34" charset="-122"/>
                <a:cs typeface="Arial" pitchFamily="34" charset="-120"/>
              </a:rPr>
              <a:t>Lambdas with Predicate, Function and Comparator filter and sort</a:t>
            </a:r>
            <a:endParaRPr lang="en-US" sz="1300" dirty="0"/>
          </a:p>
          <a:p>
            <a:pPr algn="l" marL="155956" indent="-155956">
              <a:lnSpc>
                <a:spcPts val="1820"/>
              </a:lnSpc>
              <a:buSzPct val="100000"/>
              <a:buChar char="•"/>
            </a:pPr>
            <a:r>
              <a:rPr lang="en-US" sz="1300" dirty="0">
                <a:solidFill>
                  <a:srgbClr val="2B3340"/>
                </a:solidFill>
                <a:latin typeface="Arial" pitchFamily="34" charset="0"/>
                <a:ea typeface="Arial" pitchFamily="34" charset="-122"/>
                <a:cs typeface="Arial" pitchFamily="34" charset="-120"/>
              </a:rPr>
              <a:t>Streams use filter, map, sorted, distinct, limit, count and reduce</a:t>
            </a:r>
            <a:endParaRPr lang="en-US" sz="1300" dirty="0"/>
          </a:p>
          <a:p>
            <a:pPr algn="l" marL="155956" indent="-155956">
              <a:lnSpc>
                <a:spcPts val="1820"/>
              </a:lnSpc>
              <a:buSzPct val="100000"/>
              <a:buChar char="•"/>
            </a:pPr>
            <a:r>
              <a:rPr lang="en-US" sz="1300" dirty="0">
                <a:solidFill>
                  <a:srgbClr val="2B3340"/>
                </a:solidFill>
                <a:latin typeface="Arial" pitchFamily="34" charset="0"/>
                <a:ea typeface="Arial" pitchFamily="34" charset="-122"/>
                <a:cs typeface="Arial" pitchFamily="34" charset="-120"/>
              </a:rPr>
              <a:t>Collectors build reports: toList, groupingBy, counting, joining</a:t>
            </a:r>
            <a:endParaRPr lang="en-US" sz="1300" dirty="0"/>
          </a:p>
        </p:txBody>
      </p:sp>
      <p:sp>
        <p:nvSpPr>
          <p:cNvPr id="9" name="Shape 5"/>
          <p:cNvSpPr/>
          <p:nvPr/>
        </p:nvSpPr>
        <p:spPr>
          <a:xfrm>
            <a:off x="5610225" y="1891032"/>
            <a:ext cx="5762625" cy="3385820"/>
          </a:xfrm>
          <a:prstGeom prst="roundRect">
            <a:avLst>
              <a:gd name="adj" fmla="val 7314"/>
            </a:avLst>
          </a:prstGeom>
          <a:solidFill>
            <a:srgbClr val="FFFFFF">
              <a:alpha val="70000"/>
            </a:srgbClr>
          </a:solidFill>
          <a:ln w="12700">
            <a:solidFill>
              <a:srgbClr val="14181F"/>
            </a:solidFill>
            <a:prstDash val="solid"/>
          </a:ln>
        </p:spPr>
      </p:sp>
      <p:sp>
        <p:nvSpPr>
          <p:cNvPr id="10" name="Text 6"/>
          <p:cNvSpPr/>
          <p:nvPr/>
        </p:nvSpPr>
        <p:spPr>
          <a:xfrm>
            <a:off x="5918835" y="2199639"/>
            <a:ext cx="5299767" cy="330200"/>
          </a:xfrm>
          <a:prstGeom prst="rect">
            <a:avLst/>
          </a:prstGeom>
          <a:noFill/>
          <a:ln/>
        </p:spPr>
        <p:txBody>
          <a:bodyPr wrap="square" lIns="0" tIns="0" rIns="0" bIns="0" rtlCol="0" anchor="t">
            <a:normAutofit/>
          </a:bodyPr>
          <a:lstStyle/>
          <a:p>
            <a:pPr algn="l" indent="0" marL="0">
              <a:lnSpc>
                <a:spcPts val="2400"/>
              </a:lnSpc>
              <a:buNone/>
            </a:pPr>
            <a:r>
              <a:rPr lang="en-US" sz="2000" dirty="0">
                <a:solidFill>
                  <a:srgbClr val="14181F"/>
                </a:solidFill>
                <a:latin typeface="Georgia" pitchFamily="18" charset="0"/>
                <a:ea typeface="Georgia" pitchFamily="18" charset="-122"/>
                <a:cs typeface="Georgia" pitchFamily="18" charset="-120"/>
              </a:rPr>
              <a:t>Report: confirmed bookings per doctor</a:t>
            </a:r>
            <a:endParaRPr lang="en-US" sz="2000" dirty="0"/>
          </a:p>
        </p:txBody>
      </p:sp>
      <p:sp>
        <p:nvSpPr>
          <p:cNvPr id="11" name="Text 7"/>
          <p:cNvSpPr/>
          <p:nvPr/>
        </p:nvSpPr>
        <p:spPr>
          <a:xfrm>
            <a:off x="5918835" y="2656839"/>
            <a:ext cx="5299767" cy="1511300"/>
          </a:xfrm>
          <a:prstGeom prst="rect">
            <a:avLst/>
          </a:prstGeom>
          <a:noFill/>
          <a:ln/>
        </p:spPr>
        <p:txBody>
          <a:bodyPr wrap="square" lIns="0" tIns="0" rIns="0" bIns="0" rtlCol="0" anchor="t">
            <a:normAutofit/>
          </a:bodyPr>
          <a:lstStyle/>
          <a:p>
            <a:pPr algn="l" indent="0" marL="0">
              <a:lnSpc>
                <a:spcPts val="1950"/>
              </a:lnSpc>
              <a:buNone/>
            </a:pPr>
            <a:r>
              <a:rPr lang="en-US" sz="1300" dirty="0">
                <a:solidFill>
                  <a:srgbClr val="14181F"/>
                </a:solidFill>
                <a:latin typeface="Courier New" pitchFamily="49" charset="0"/>
                <a:ea typeface="Courier New" pitchFamily="49" charset="-122"/>
                <a:cs typeface="Courier New" pitchFamily="49" charset="-120"/>
              </a:rPr>
              <a:t>Map&lt;String, Long&gt; perDoctor = appointments</a:t>
            </a:r>
            <a:endParaRPr lang="en-US" sz="1300" dirty="0"/>
          </a:p>
          <a:p>
            <a:pPr algn="l" indent="0" marL="0">
              <a:lnSpc>
                <a:spcPts val="1950"/>
              </a:lnSpc>
              <a:buNone/>
            </a:pPr>
            <a:r>
              <a:rPr lang="en-US" sz="1300" dirty="0">
                <a:solidFill>
                  <a:srgbClr val="14181F"/>
                </a:solidFill>
                <a:latin typeface="Courier New" pitchFamily="49" charset="0"/>
                <a:ea typeface="Courier New" pitchFamily="49" charset="-122"/>
                <a:cs typeface="Courier New" pitchFamily="49" charset="-120"/>
              </a:rPr>
              <a:t>    .stream()</a:t>
            </a:r>
            <a:endParaRPr lang="en-US" sz="1300" dirty="0"/>
          </a:p>
          <a:p>
            <a:pPr algn="l" indent="0" marL="0">
              <a:lnSpc>
                <a:spcPts val="1950"/>
              </a:lnSpc>
              <a:buNone/>
            </a:pPr>
            <a:r>
              <a:rPr lang="en-US" sz="1300" dirty="0">
                <a:solidFill>
                  <a:srgbClr val="14181F"/>
                </a:solidFill>
                <a:latin typeface="Courier New" pitchFamily="49" charset="0"/>
                <a:ea typeface="Courier New" pitchFamily="49" charset="-122"/>
                <a:cs typeface="Courier New" pitchFamily="49" charset="-120"/>
              </a:rPr>
              <a:t>    .filter(Appointment::isConfirmed)</a:t>
            </a:r>
            <a:endParaRPr lang="en-US" sz="1300" dirty="0"/>
          </a:p>
          <a:p>
            <a:pPr algn="l" indent="0" marL="0">
              <a:lnSpc>
                <a:spcPts val="1950"/>
              </a:lnSpc>
              <a:buNone/>
            </a:pPr>
            <a:r>
              <a:rPr lang="en-US" sz="1300" dirty="0">
                <a:solidFill>
                  <a:srgbClr val="14181F"/>
                </a:solidFill>
                <a:latin typeface="Courier New" pitchFamily="49" charset="0"/>
                <a:ea typeface="Courier New" pitchFamily="49" charset="-122"/>
                <a:cs typeface="Courier New" pitchFamily="49" charset="-120"/>
              </a:rPr>
              <a:t>    .collect(Collectors.groupingBy(</a:t>
            </a:r>
            <a:endParaRPr lang="en-US" sz="1300" dirty="0"/>
          </a:p>
          <a:p>
            <a:pPr algn="l" indent="0" marL="0">
              <a:lnSpc>
                <a:spcPts val="1950"/>
              </a:lnSpc>
              <a:buNone/>
            </a:pPr>
            <a:r>
              <a:rPr lang="en-US" sz="1300" dirty="0">
                <a:solidFill>
                  <a:srgbClr val="14181F"/>
                </a:solidFill>
                <a:latin typeface="Courier New" pitchFamily="49" charset="0"/>
                <a:ea typeface="Courier New" pitchFamily="49" charset="-122"/>
                <a:cs typeface="Courier New" pitchFamily="49" charset="-120"/>
              </a:rPr>
              <a:t>        Appointment::getDoctor,</a:t>
            </a:r>
            <a:endParaRPr lang="en-US" sz="1300" dirty="0"/>
          </a:p>
          <a:p>
            <a:pPr algn="l" indent="0" marL="0">
              <a:lnSpc>
                <a:spcPts val="1950"/>
              </a:lnSpc>
              <a:buNone/>
            </a:pPr>
            <a:r>
              <a:rPr lang="en-US" sz="1300" dirty="0">
                <a:solidFill>
                  <a:srgbClr val="14181F"/>
                </a:solidFill>
                <a:latin typeface="Courier New" pitchFamily="49" charset="0"/>
                <a:ea typeface="Courier New" pitchFamily="49" charset="-122"/>
                <a:cs typeface="Courier New" pitchFamily="49" charset="-120"/>
              </a:rPr>
              <a:t>        Collectors.counting()));</a:t>
            </a:r>
            <a:endParaRPr lang="en-US" sz="1300" dirty="0"/>
          </a:p>
        </p:txBody>
      </p:sp>
      <p:sp>
        <p:nvSpPr>
          <p:cNvPr id="12" name="Text 8"/>
          <p:cNvSpPr/>
          <p:nvPr/>
        </p:nvSpPr>
        <p:spPr>
          <a:xfrm>
            <a:off x="5918835" y="4295142"/>
            <a:ext cx="5299767" cy="4876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2B3340"/>
                </a:solidFill>
                <a:latin typeface="Arial" pitchFamily="34" charset="0"/>
                <a:ea typeface="Arial" pitchFamily="34" charset="-122"/>
                <a:cs typeface="Arial" pitchFamily="34" charset="-120"/>
              </a:rPr>
              <a:t>Files.lines(path) turns the saved records file into a stream in the same way.</a:t>
            </a:r>
            <a:endParaRPr lang="en-US" sz="1300" dirty="0"/>
          </a:p>
        </p:txBody>
      </p:sp>
      <p:sp>
        <p:nvSpPr>
          <p:cNvPr id="13" name="Text 9"/>
          <p:cNvSpPr/>
          <p:nvPr/>
        </p:nvSpPr>
        <p:spPr>
          <a:xfrm>
            <a:off x="812800" y="6238242"/>
            <a:ext cx="6540500" cy="23876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4A5565"/>
                </a:solidFill>
                <a:latin typeface="Arial" pitchFamily="34" charset="0"/>
                <a:ea typeface="Arial" pitchFamily="34" charset="-122"/>
                <a:cs typeface="Arial" pitchFamily="34" charset="-120"/>
              </a:rPr>
              <a:t>CLINICA · APPOINTMENT &amp; PRESCRIPTION MANAGER</a:t>
            </a:r>
            <a:endParaRPr lang="en-US" sz="1200" dirty="0"/>
          </a:p>
        </p:txBody>
      </p:sp>
      <p:sp>
        <p:nvSpPr>
          <p:cNvPr id="14" name="Text 10"/>
          <p:cNvSpPr/>
          <p:nvPr/>
        </p:nvSpPr>
        <p:spPr>
          <a:xfrm>
            <a:off x="10693400" y="6238242"/>
            <a:ext cx="68580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4A5565"/>
                </a:solidFill>
                <a:latin typeface="Arial" pitchFamily="34" charset="0"/>
                <a:ea typeface="Arial" pitchFamily="34" charset="-122"/>
                <a:cs typeface="Arial" pitchFamily="34" charset="-120"/>
              </a:rPr>
              <a:t>08</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pic>
        <p:nvPicPr>
          <p:cNvPr id="2" name="Image 0" descr="Sparkle ornament">    </p:cNvPr>
          <p:cNvPicPr>
            <a:picLocks noChangeAspect="1"/>
          </p:cNvPicPr>
          <p:nvPr/>
        </p:nvPicPr>
        <p:blipFill>
          <a:blip r:embed="rId1"/>
          <a:srcRect l="0" r="0" t="0" b="0"/>
          <a:stretch/>
        </p:blipFill>
        <p:spPr>
          <a:xfrm>
            <a:off x="11074400" y="406400"/>
            <a:ext cx="304800" cy="304800"/>
          </a:xfrm>
          <a:prstGeom prst="rect">
            <a:avLst/>
          </a:prstGeom>
        </p:spPr>
      </p:pic>
      <p:pic>
        <p:nvPicPr>
          <p:cNvPr id="3" name="Image 1" descr="line">    </p:cNvPr>
          <p:cNvPicPr>
            <a:picLocks noChangeAspect="1"/>
          </p:cNvPicPr>
          <p:nvPr/>
        </p:nvPicPr>
        <p:blipFill>
          <a:blip r:embed="rId2"/>
          <a:srcRect l="0" r="0" t="-3333" b="-3333"/>
          <a:stretch/>
        </p:blipFill>
        <p:spPr>
          <a:xfrm>
            <a:off x="812800" y="457200"/>
            <a:ext cx="1524000" cy="20320"/>
          </a:xfrm>
          <a:prstGeom prst="rect">
            <a:avLst/>
          </a:prstGeom>
        </p:spPr>
      </p:pic>
      <p:sp>
        <p:nvSpPr>
          <p:cNvPr id="4"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spc="300" kern="0" dirty="0">
                <a:solidFill>
                  <a:srgbClr val="2B3340"/>
                </a:solidFill>
                <a:latin typeface="Arial" pitchFamily="34" charset="0"/>
                <a:ea typeface="Arial" pitchFamily="34" charset="-122"/>
                <a:cs typeface="Arial" pitchFamily="34" charset="-120"/>
              </a:rPr>
              <a:t>CONCLUSION</a:t>
            </a:r>
            <a:endParaRPr lang="en-US" sz="1200" dirty="0"/>
          </a:p>
        </p:txBody>
      </p:sp>
      <p:sp>
        <p:nvSpPr>
          <p:cNvPr id="5" name="Text 1"/>
          <p:cNvSpPr/>
          <p:nvPr>
            <p:ph type="title"/>
          </p:nvPr>
        </p:nvSpPr>
        <p:spPr>
          <a:xfrm>
            <a:off x="812800" y="1076964"/>
            <a:ext cx="10883392" cy="528320"/>
          </a:xfrm>
          <a:prstGeom prst="rect">
            <a:avLst/>
          </a:prstGeom>
          <a:noFill/>
          <a:ln/>
        </p:spPr>
        <p:txBody>
          <a:bodyPr wrap="square" lIns="0" tIns="0" rIns="0" bIns="0" rtlCol="0" anchor="t">
            <a:normAutofit/>
          </a:bodyPr>
          <a:lstStyle/>
          <a:p>
            <a:pPr algn="l" indent="0" marL="0">
              <a:lnSpc>
                <a:spcPts val="3960"/>
              </a:lnSpc>
              <a:buNone/>
            </a:pPr>
            <a:r>
              <a:rPr lang="en-US" sz="3600" b="0" i="0" spc="200" kern="0" dirty="0">
                <a:solidFill>
                  <a:srgbClr val="14181F"/>
                </a:solidFill>
                <a:latin typeface="Georgia" pitchFamily="18" charset="0"/>
                <a:ea typeface="Georgia" pitchFamily="18" charset="-122"/>
                <a:cs typeface="Georgia" pitchFamily="18" charset="-120"/>
              </a:rPr>
              <a:t>PUTTING IT TOGETHER</a:t>
            </a:r>
            <a:endParaRPr lang="en-US" sz="3600" dirty="0"/>
          </a:p>
        </p:txBody>
      </p:sp>
      <p:sp>
        <p:nvSpPr>
          <p:cNvPr id="6" name="Shape 2"/>
          <p:cNvSpPr/>
          <p:nvPr/>
        </p:nvSpPr>
        <p:spPr>
          <a:xfrm>
            <a:off x="819150" y="1891029"/>
            <a:ext cx="1775460" cy="1424940"/>
          </a:xfrm>
          <a:prstGeom prst="roundRect">
            <a:avLst>
              <a:gd name="adj" fmla="val 13815"/>
            </a:avLst>
          </a:prstGeom>
          <a:solidFill>
            <a:srgbClr val="FFFFFF">
              <a:alpha val="55000"/>
            </a:srgbClr>
          </a:solidFill>
          <a:ln w="12700">
            <a:solidFill>
              <a:srgbClr val="14181F"/>
            </a:solidFill>
            <a:prstDash val="solid"/>
          </a:ln>
        </p:spPr>
      </p:sp>
      <p:sp>
        <p:nvSpPr>
          <p:cNvPr id="7" name="Text 3"/>
          <p:cNvSpPr/>
          <p:nvPr/>
        </p:nvSpPr>
        <p:spPr>
          <a:xfrm>
            <a:off x="975360" y="2098042"/>
            <a:ext cx="1513840" cy="23876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4A5565"/>
                </a:solidFill>
                <a:latin typeface="Arial" pitchFamily="34" charset="0"/>
                <a:ea typeface="Arial" pitchFamily="34" charset="-122"/>
                <a:cs typeface="Arial" pitchFamily="34" charset="-120"/>
              </a:rPr>
              <a:t>M1 · M2</a:t>
            </a:r>
            <a:endParaRPr lang="en-US" sz="1200" dirty="0"/>
          </a:p>
        </p:txBody>
      </p:sp>
      <p:sp>
        <p:nvSpPr>
          <p:cNvPr id="8" name="Text 4"/>
          <p:cNvSpPr/>
          <p:nvPr/>
        </p:nvSpPr>
        <p:spPr>
          <a:xfrm>
            <a:off x="975360" y="2374900"/>
            <a:ext cx="1513840" cy="269240"/>
          </a:xfrm>
          <a:prstGeom prst="rect">
            <a:avLst/>
          </a:prstGeom>
          <a:noFill/>
          <a:ln/>
        </p:spPr>
        <p:txBody>
          <a:bodyPr wrap="square" lIns="0" tIns="0" rIns="0" bIns="0" rtlCol="0" anchor="t">
            <a:normAutofit/>
          </a:bodyPr>
          <a:lstStyle/>
          <a:p>
            <a:pPr algn="l" indent="0" marL="0">
              <a:lnSpc>
                <a:spcPts val="1920"/>
              </a:lnSpc>
              <a:buNone/>
            </a:pPr>
            <a:r>
              <a:rPr lang="en-US" sz="1600" dirty="0">
                <a:solidFill>
                  <a:srgbClr val="14181F"/>
                </a:solidFill>
                <a:latin typeface="Georgia" pitchFamily="18" charset="0"/>
                <a:ea typeface="Georgia" pitchFamily="18" charset="-122"/>
                <a:cs typeface="Georgia" pitchFamily="18" charset="-120"/>
              </a:rPr>
              <a:t>Menu</a:t>
            </a:r>
            <a:endParaRPr lang="en-US" sz="1600" dirty="0"/>
          </a:p>
        </p:txBody>
      </p:sp>
      <p:sp>
        <p:nvSpPr>
          <p:cNvPr id="9" name="Text 5"/>
          <p:cNvSpPr/>
          <p:nvPr/>
        </p:nvSpPr>
        <p:spPr>
          <a:xfrm>
            <a:off x="975360" y="2682242"/>
            <a:ext cx="1513840"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2B3340"/>
                </a:solidFill>
                <a:latin typeface="Arial" pitchFamily="34" charset="0"/>
                <a:ea typeface="Arial" pitchFamily="34" charset="-122"/>
                <a:cs typeface="Arial" pitchFamily="34" charset="-120"/>
              </a:rPr>
              <a:t>Scanner input and a switch loop</a:t>
            </a:r>
            <a:endParaRPr lang="en-US" sz="1200" dirty="0"/>
          </a:p>
        </p:txBody>
      </p:sp>
      <p:pic>
        <p:nvPicPr>
          <p:cNvPr id="10" name="Image 2" descr="arrow-right">    </p:cNvPr>
          <p:cNvPicPr>
            <a:picLocks noChangeAspect="1"/>
          </p:cNvPicPr>
          <p:nvPr/>
        </p:nvPicPr>
        <p:blipFill>
          <a:blip r:embed="rId3"/>
          <a:srcRect l="0" r="0" t="0" b="0"/>
          <a:stretch/>
        </p:blipFill>
        <p:spPr>
          <a:xfrm>
            <a:off x="2677160" y="2527300"/>
            <a:ext cx="254000" cy="152400"/>
          </a:xfrm>
          <a:prstGeom prst="rect">
            <a:avLst/>
          </a:prstGeom>
        </p:spPr>
      </p:pic>
      <p:sp>
        <p:nvSpPr>
          <p:cNvPr id="11" name="Shape 6"/>
          <p:cNvSpPr/>
          <p:nvPr/>
        </p:nvSpPr>
        <p:spPr>
          <a:xfrm>
            <a:off x="3013710" y="1891029"/>
            <a:ext cx="1775460" cy="1424940"/>
          </a:xfrm>
          <a:prstGeom prst="roundRect">
            <a:avLst>
              <a:gd name="adj" fmla="val 13815"/>
            </a:avLst>
          </a:prstGeom>
          <a:solidFill>
            <a:srgbClr val="FFFFFF">
              <a:alpha val="55000"/>
            </a:srgbClr>
          </a:solidFill>
          <a:ln w="12700">
            <a:solidFill>
              <a:srgbClr val="14181F"/>
            </a:solidFill>
            <a:prstDash val="solid"/>
          </a:ln>
        </p:spPr>
      </p:sp>
      <p:sp>
        <p:nvSpPr>
          <p:cNvPr id="12" name="Text 7"/>
          <p:cNvSpPr/>
          <p:nvPr/>
        </p:nvSpPr>
        <p:spPr>
          <a:xfrm>
            <a:off x="3169920" y="2098042"/>
            <a:ext cx="1513840" cy="23876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4A5565"/>
                </a:solidFill>
                <a:latin typeface="Arial" pitchFamily="34" charset="0"/>
                <a:ea typeface="Arial" pitchFamily="34" charset="-122"/>
                <a:cs typeface="Arial" pitchFamily="34" charset="-120"/>
              </a:rPr>
              <a:t>M3</a:t>
            </a:r>
            <a:endParaRPr lang="en-US" sz="1200" dirty="0"/>
          </a:p>
        </p:txBody>
      </p:sp>
      <p:sp>
        <p:nvSpPr>
          <p:cNvPr id="13" name="Text 8"/>
          <p:cNvSpPr/>
          <p:nvPr/>
        </p:nvSpPr>
        <p:spPr>
          <a:xfrm>
            <a:off x="3169920" y="2374900"/>
            <a:ext cx="1513840" cy="269240"/>
          </a:xfrm>
          <a:prstGeom prst="rect">
            <a:avLst/>
          </a:prstGeom>
          <a:noFill/>
          <a:ln/>
        </p:spPr>
        <p:txBody>
          <a:bodyPr wrap="square" lIns="0" tIns="0" rIns="0" bIns="0" rtlCol="0" anchor="t">
            <a:normAutofit/>
          </a:bodyPr>
          <a:lstStyle/>
          <a:p>
            <a:pPr algn="l" indent="0" marL="0">
              <a:lnSpc>
                <a:spcPts val="1920"/>
              </a:lnSpc>
              <a:buNone/>
            </a:pPr>
            <a:r>
              <a:rPr lang="en-US" sz="1600" dirty="0">
                <a:solidFill>
                  <a:srgbClr val="14181F"/>
                </a:solidFill>
                <a:latin typeface="Georgia" pitchFamily="18" charset="0"/>
                <a:ea typeface="Georgia" pitchFamily="18" charset="-122"/>
                <a:cs typeface="Georgia" pitchFamily="18" charset="-120"/>
              </a:rPr>
              <a:t>Services</a:t>
            </a:r>
            <a:endParaRPr lang="en-US" sz="1600" dirty="0"/>
          </a:p>
        </p:txBody>
      </p:sp>
      <p:sp>
        <p:nvSpPr>
          <p:cNvPr id="14" name="Text 9"/>
          <p:cNvSpPr/>
          <p:nvPr/>
        </p:nvSpPr>
        <p:spPr>
          <a:xfrm>
            <a:off x="3169920" y="2682242"/>
            <a:ext cx="1513840"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2B3340"/>
                </a:solidFill>
                <a:latin typeface="Arial" pitchFamily="34" charset="0"/>
                <a:ea typeface="Arial" pitchFamily="34" charset="-122"/>
                <a:cs typeface="Arial" pitchFamily="34" charset="-120"/>
              </a:rPr>
              <a:t>Methods, arrays and validation</a:t>
            </a:r>
            <a:endParaRPr lang="en-US" sz="1200" dirty="0"/>
          </a:p>
        </p:txBody>
      </p:sp>
      <p:pic>
        <p:nvPicPr>
          <p:cNvPr id="15" name="Image 3" descr="arrow-right">    </p:cNvPr>
          <p:cNvPicPr>
            <a:picLocks noChangeAspect="1"/>
          </p:cNvPicPr>
          <p:nvPr/>
        </p:nvPicPr>
        <p:blipFill>
          <a:blip r:embed="rId4"/>
          <a:srcRect l="0" r="0" t="0" b="0"/>
          <a:stretch/>
        </p:blipFill>
        <p:spPr>
          <a:xfrm>
            <a:off x="4871720" y="2527300"/>
            <a:ext cx="254000" cy="152400"/>
          </a:xfrm>
          <a:prstGeom prst="rect">
            <a:avLst/>
          </a:prstGeom>
        </p:spPr>
      </p:pic>
      <p:sp>
        <p:nvSpPr>
          <p:cNvPr id="16" name="Shape 10"/>
          <p:cNvSpPr/>
          <p:nvPr/>
        </p:nvSpPr>
        <p:spPr>
          <a:xfrm>
            <a:off x="5208270" y="1891029"/>
            <a:ext cx="1775460" cy="1424940"/>
          </a:xfrm>
          <a:prstGeom prst="roundRect">
            <a:avLst>
              <a:gd name="adj" fmla="val 13815"/>
            </a:avLst>
          </a:prstGeom>
          <a:solidFill>
            <a:srgbClr val="FFFFFF">
              <a:alpha val="55000"/>
            </a:srgbClr>
          </a:solidFill>
          <a:ln w="12700">
            <a:solidFill>
              <a:srgbClr val="14181F"/>
            </a:solidFill>
            <a:prstDash val="solid"/>
          </a:ln>
        </p:spPr>
      </p:sp>
      <p:sp>
        <p:nvSpPr>
          <p:cNvPr id="17" name="Text 11"/>
          <p:cNvSpPr/>
          <p:nvPr/>
        </p:nvSpPr>
        <p:spPr>
          <a:xfrm>
            <a:off x="5364480" y="2098042"/>
            <a:ext cx="1513840" cy="23876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4A5565"/>
                </a:solidFill>
                <a:latin typeface="Arial" pitchFamily="34" charset="0"/>
                <a:ea typeface="Arial" pitchFamily="34" charset="-122"/>
                <a:cs typeface="Arial" pitchFamily="34" charset="-120"/>
              </a:rPr>
              <a:t>M4</a:t>
            </a:r>
            <a:endParaRPr lang="en-US" sz="1200" dirty="0"/>
          </a:p>
        </p:txBody>
      </p:sp>
      <p:sp>
        <p:nvSpPr>
          <p:cNvPr id="18" name="Text 12"/>
          <p:cNvSpPr/>
          <p:nvPr/>
        </p:nvSpPr>
        <p:spPr>
          <a:xfrm>
            <a:off x="5364480" y="2374900"/>
            <a:ext cx="1513840" cy="269240"/>
          </a:xfrm>
          <a:prstGeom prst="rect">
            <a:avLst/>
          </a:prstGeom>
          <a:noFill/>
          <a:ln/>
        </p:spPr>
        <p:txBody>
          <a:bodyPr wrap="square" lIns="0" tIns="0" rIns="0" bIns="0" rtlCol="0" anchor="t">
            <a:normAutofit/>
          </a:bodyPr>
          <a:lstStyle/>
          <a:p>
            <a:pPr algn="l" indent="0" marL="0">
              <a:lnSpc>
                <a:spcPts val="1920"/>
              </a:lnSpc>
              <a:buNone/>
            </a:pPr>
            <a:r>
              <a:rPr lang="en-US" sz="1600" dirty="0">
                <a:solidFill>
                  <a:srgbClr val="14181F"/>
                </a:solidFill>
                <a:latin typeface="Georgia" pitchFamily="18" charset="0"/>
                <a:ea typeface="Georgia" pitchFamily="18" charset="-122"/>
                <a:cs typeface="Georgia" pitchFamily="18" charset="-120"/>
              </a:rPr>
              <a:t>Objects</a:t>
            </a:r>
            <a:endParaRPr lang="en-US" sz="1600" dirty="0"/>
          </a:p>
        </p:txBody>
      </p:sp>
      <p:sp>
        <p:nvSpPr>
          <p:cNvPr id="19" name="Text 13"/>
          <p:cNvSpPr/>
          <p:nvPr/>
        </p:nvSpPr>
        <p:spPr>
          <a:xfrm>
            <a:off x="5364480" y="2682242"/>
            <a:ext cx="1513840"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2B3340"/>
                </a:solidFill>
                <a:latin typeface="Arial" pitchFamily="34" charset="0"/>
                <a:ea typeface="Arial" pitchFamily="34" charset="-122"/>
                <a:cs typeface="Arial" pitchFamily="34" charset="-120"/>
              </a:rPr>
              <a:t>Patient, Doctor and Rx classes</a:t>
            </a:r>
            <a:endParaRPr lang="en-US" sz="1200" dirty="0"/>
          </a:p>
        </p:txBody>
      </p:sp>
      <p:pic>
        <p:nvPicPr>
          <p:cNvPr id="20" name="Image 4" descr="arrow-right">    </p:cNvPr>
          <p:cNvPicPr>
            <a:picLocks noChangeAspect="1"/>
          </p:cNvPicPr>
          <p:nvPr/>
        </p:nvPicPr>
        <p:blipFill>
          <a:blip r:embed="rId5"/>
          <a:srcRect l="0" r="0" t="0" b="0"/>
          <a:stretch/>
        </p:blipFill>
        <p:spPr>
          <a:xfrm>
            <a:off x="7066280" y="2527300"/>
            <a:ext cx="254000" cy="152400"/>
          </a:xfrm>
          <a:prstGeom prst="rect">
            <a:avLst/>
          </a:prstGeom>
        </p:spPr>
      </p:pic>
      <p:sp>
        <p:nvSpPr>
          <p:cNvPr id="21" name="Shape 14"/>
          <p:cNvSpPr/>
          <p:nvPr/>
        </p:nvSpPr>
        <p:spPr>
          <a:xfrm>
            <a:off x="7402830" y="1891029"/>
            <a:ext cx="1775460" cy="1424940"/>
          </a:xfrm>
          <a:prstGeom prst="roundRect">
            <a:avLst>
              <a:gd name="adj" fmla="val 13815"/>
            </a:avLst>
          </a:prstGeom>
          <a:solidFill>
            <a:srgbClr val="FFFFFF">
              <a:alpha val="55000"/>
            </a:srgbClr>
          </a:solidFill>
          <a:ln w="12700">
            <a:solidFill>
              <a:srgbClr val="14181F"/>
            </a:solidFill>
            <a:prstDash val="solid"/>
          </a:ln>
        </p:spPr>
      </p:sp>
      <p:sp>
        <p:nvSpPr>
          <p:cNvPr id="22" name="Text 15"/>
          <p:cNvSpPr/>
          <p:nvPr/>
        </p:nvSpPr>
        <p:spPr>
          <a:xfrm>
            <a:off x="7559040" y="2098042"/>
            <a:ext cx="1513840" cy="23876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4A5565"/>
                </a:solidFill>
                <a:latin typeface="Arial" pitchFamily="34" charset="0"/>
                <a:ea typeface="Arial" pitchFamily="34" charset="-122"/>
                <a:cs typeface="Arial" pitchFamily="34" charset="-120"/>
              </a:rPr>
              <a:t>M6</a:t>
            </a:r>
            <a:endParaRPr lang="en-US" sz="1200" dirty="0"/>
          </a:p>
        </p:txBody>
      </p:sp>
      <p:sp>
        <p:nvSpPr>
          <p:cNvPr id="23" name="Text 16"/>
          <p:cNvSpPr/>
          <p:nvPr/>
        </p:nvSpPr>
        <p:spPr>
          <a:xfrm>
            <a:off x="7559040" y="2374900"/>
            <a:ext cx="1513840" cy="269240"/>
          </a:xfrm>
          <a:prstGeom prst="rect">
            <a:avLst/>
          </a:prstGeom>
          <a:noFill/>
          <a:ln/>
        </p:spPr>
        <p:txBody>
          <a:bodyPr wrap="square" lIns="0" tIns="0" rIns="0" bIns="0" rtlCol="0" anchor="t">
            <a:normAutofit/>
          </a:bodyPr>
          <a:lstStyle/>
          <a:p>
            <a:pPr algn="l" indent="0" marL="0">
              <a:lnSpc>
                <a:spcPts val="1920"/>
              </a:lnSpc>
              <a:buNone/>
            </a:pPr>
            <a:r>
              <a:rPr lang="en-US" sz="1600" dirty="0">
                <a:solidFill>
                  <a:srgbClr val="14181F"/>
                </a:solidFill>
                <a:latin typeface="Georgia" pitchFamily="18" charset="0"/>
                <a:ea typeface="Georgia" pitchFamily="18" charset="-122"/>
                <a:cs typeface="Georgia" pitchFamily="18" charset="-120"/>
              </a:rPr>
              <a:t>Collections</a:t>
            </a:r>
            <a:endParaRPr lang="en-US" sz="1600" dirty="0"/>
          </a:p>
        </p:txBody>
      </p:sp>
      <p:sp>
        <p:nvSpPr>
          <p:cNvPr id="24" name="Text 17"/>
          <p:cNvSpPr/>
          <p:nvPr/>
        </p:nvSpPr>
        <p:spPr>
          <a:xfrm>
            <a:off x="7559040" y="2682242"/>
            <a:ext cx="1513840"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2B3340"/>
                </a:solidFill>
                <a:latin typeface="Arial" pitchFamily="34" charset="0"/>
                <a:ea typeface="Arial" pitchFamily="34" charset="-122"/>
                <a:cs typeface="Arial" pitchFamily="34" charset="-120"/>
              </a:rPr>
              <a:t>Lists, maps and stream reports</a:t>
            </a:r>
            <a:endParaRPr lang="en-US" sz="1200" dirty="0"/>
          </a:p>
        </p:txBody>
      </p:sp>
      <p:pic>
        <p:nvPicPr>
          <p:cNvPr id="25" name="Image 5" descr="arrow-right">    </p:cNvPr>
          <p:cNvPicPr>
            <a:picLocks noChangeAspect="1"/>
          </p:cNvPicPr>
          <p:nvPr/>
        </p:nvPicPr>
        <p:blipFill>
          <a:blip r:embed="rId6"/>
          <a:srcRect l="0" r="0" t="0" b="0"/>
          <a:stretch/>
        </p:blipFill>
        <p:spPr>
          <a:xfrm>
            <a:off x="9260840" y="2527300"/>
            <a:ext cx="254000" cy="152400"/>
          </a:xfrm>
          <a:prstGeom prst="rect">
            <a:avLst/>
          </a:prstGeom>
        </p:spPr>
      </p:pic>
      <p:sp>
        <p:nvSpPr>
          <p:cNvPr id="26" name="Shape 18"/>
          <p:cNvSpPr/>
          <p:nvPr/>
        </p:nvSpPr>
        <p:spPr>
          <a:xfrm>
            <a:off x="9597390" y="1891029"/>
            <a:ext cx="1775460" cy="1424940"/>
          </a:xfrm>
          <a:prstGeom prst="roundRect">
            <a:avLst>
              <a:gd name="adj" fmla="val 13815"/>
            </a:avLst>
          </a:prstGeom>
          <a:solidFill>
            <a:srgbClr val="FFFFFF">
              <a:alpha val="55000"/>
            </a:srgbClr>
          </a:solidFill>
          <a:ln w="12700">
            <a:solidFill>
              <a:srgbClr val="14181F"/>
            </a:solidFill>
            <a:prstDash val="solid"/>
          </a:ln>
        </p:spPr>
      </p:sp>
      <p:sp>
        <p:nvSpPr>
          <p:cNvPr id="27" name="Text 19"/>
          <p:cNvSpPr/>
          <p:nvPr/>
        </p:nvSpPr>
        <p:spPr>
          <a:xfrm>
            <a:off x="9753600" y="2098042"/>
            <a:ext cx="1513840" cy="23876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4A5565"/>
                </a:solidFill>
                <a:latin typeface="Arial" pitchFamily="34" charset="0"/>
                <a:ea typeface="Arial" pitchFamily="34" charset="-122"/>
                <a:cs typeface="Arial" pitchFamily="34" charset="-120"/>
              </a:rPr>
              <a:t>M5</a:t>
            </a:r>
            <a:endParaRPr lang="en-US" sz="1200" dirty="0"/>
          </a:p>
        </p:txBody>
      </p:sp>
      <p:sp>
        <p:nvSpPr>
          <p:cNvPr id="28" name="Text 20"/>
          <p:cNvSpPr/>
          <p:nvPr/>
        </p:nvSpPr>
        <p:spPr>
          <a:xfrm>
            <a:off x="9753600" y="2374900"/>
            <a:ext cx="1513840" cy="269240"/>
          </a:xfrm>
          <a:prstGeom prst="rect">
            <a:avLst/>
          </a:prstGeom>
          <a:noFill/>
          <a:ln/>
        </p:spPr>
        <p:txBody>
          <a:bodyPr wrap="square" lIns="0" tIns="0" rIns="0" bIns="0" rtlCol="0" anchor="t">
            <a:normAutofit/>
          </a:bodyPr>
          <a:lstStyle/>
          <a:p>
            <a:pPr algn="l" indent="0" marL="0">
              <a:lnSpc>
                <a:spcPts val="1920"/>
              </a:lnSpc>
              <a:buNone/>
            </a:pPr>
            <a:r>
              <a:rPr lang="en-US" sz="1600" dirty="0">
                <a:solidFill>
                  <a:srgbClr val="14181F"/>
                </a:solidFill>
                <a:latin typeface="Georgia" pitchFamily="18" charset="0"/>
                <a:ea typeface="Georgia" pitchFamily="18" charset="-122"/>
                <a:cs typeface="Georgia" pitchFamily="18" charset="-120"/>
              </a:rPr>
              <a:t>Files</a:t>
            </a:r>
            <a:endParaRPr lang="en-US" sz="1600" dirty="0"/>
          </a:p>
        </p:txBody>
      </p:sp>
      <p:sp>
        <p:nvSpPr>
          <p:cNvPr id="29" name="Text 21"/>
          <p:cNvSpPr/>
          <p:nvPr/>
        </p:nvSpPr>
        <p:spPr>
          <a:xfrm>
            <a:off x="9753600" y="2682242"/>
            <a:ext cx="1513840" cy="4521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2B3340"/>
                </a:solidFill>
                <a:latin typeface="Arial" pitchFamily="34" charset="0"/>
                <a:ea typeface="Arial" pitchFamily="34" charset="-122"/>
                <a:cs typeface="Arial" pitchFamily="34" charset="-120"/>
              </a:rPr>
              <a:t>Path, Files and buffered I/O</a:t>
            </a:r>
            <a:endParaRPr lang="en-US" sz="1200" dirty="0"/>
          </a:p>
        </p:txBody>
      </p:sp>
      <p:sp>
        <p:nvSpPr>
          <p:cNvPr id="30" name="Text 22"/>
          <p:cNvSpPr/>
          <p:nvPr/>
        </p:nvSpPr>
        <p:spPr>
          <a:xfrm>
            <a:off x="812800" y="3627121"/>
            <a:ext cx="10883392" cy="360680"/>
          </a:xfrm>
          <a:prstGeom prst="rect">
            <a:avLst/>
          </a:prstGeom>
          <a:noFill/>
          <a:ln/>
        </p:spPr>
        <p:txBody>
          <a:bodyPr wrap="square" lIns="0" tIns="0" rIns="0" bIns="0" rtlCol="0" anchor="t">
            <a:normAutofit/>
          </a:bodyPr>
          <a:lstStyle/>
          <a:p>
            <a:pPr algn="l" indent="0" marL="0">
              <a:lnSpc>
                <a:spcPts val="2640"/>
              </a:lnSpc>
              <a:buNone/>
            </a:pPr>
            <a:r>
              <a:rPr lang="en-US" sz="2200" dirty="0">
                <a:solidFill>
                  <a:srgbClr val="14181F"/>
                </a:solidFill>
                <a:latin typeface="Georgia" pitchFamily="18" charset="0"/>
                <a:ea typeface="Georgia" pitchFamily="18" charset="-122"/>
                <a:cs typeface="Georgia" pitchFamily="18" charset="-120"/>
              </a:rPr>
              <a:t>Conclusion</a:t>
            </a:r>
            <a:endParaRPr lang="en-US" sz="2200" dirty="0"/>
          </a:p>
        </p:txBody>
      </p:sp>
      <p:sp>
        <p:nvSpPr>
          <p:cNvPr id="31" name="Text 23"/>
          <p:cNvSpPr/>
          <p:nvPr/>
        </p:nvSpPr>
        <p:spPr>
          <a:xfrm>
            <a:off x="812800" y="4064000"/>
            <a:ext cx="10883392" cy="8255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2B3340"/>
                </a:solidFill>
                <a:latin typeface="Arial" pitchFamily="34" charset="0"/>
                <a:ea typeface="Arial" pitchFamily="34" charset="-122"/>
                <a:cs typeface="Arial" pitchFamily="34" charset="-120"/>
              </a:rPr>
              <a:t>Clinica shows how one problem grows from a flowchart into a complete program. Control flow and methods give it structure, classes and exceptions make it robust, files keep the data, and collections with streams turn stored records into useful reports.</a:t>
            </a:r>
            <a:endParaRPr lang="en-US" sz="1500" dirty="0"/>
          </a:p>
        </p:txBody>
      </p:sp>
      <p:sp>
        <p:nvSpPr>
          <p:cNvPr id="32" name="Text 24"/>
          <p:cNvSpPr/>
          <p:nvPr/>
        </p:nvSpPr>
        <p:spPr>
          <a:xfrm>
            <a:off x="812800" y="6238242"/>
            <a:ext cx="6540500" cy="23876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4A5565"/>
                </a:solidFill>
                <a:latin typeface="Arial" pitchFamily="34" charset="0"/>
                <a:ea typeface="Arial" pitchFamily="34" charset="-122"/>
                <a:cs typeface="Arial" pitchFamily="34" charset="-120"/>
              </a:rPr>
              <a:t>CLINICA · APPOINTMENT &amp; PRESCRIPTION MANAGER</a:t>
            </a:r>
            <a:endParaRPr lang="en-US" sz="1200" dirty="0"/>
          </a:p>
        </p:txBody>
      </p:sp>
      <p:sp>
        <p:nvSpPr>
          <p:cNvPr id="33" name="Text 25"/>
          <p:cNvSpPr/>
          <p:nvPr/>
        </p:nvSpPr>
        <p:spPr>
          <a:xfrm>
            <a:off x="10693400" y="6238242"/>
            <a:ext cx="685800" cy="23876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4A5565"/>
                </a:solidFill>
                <a:latin typeface="Arial" pitchFamily="34" charset="0"/>
                <a:ea typeface="Arial" pitchFamily="34" charset="-122"/>
                <a:cs typeface="Arial" pitchFamily="34" charset="-120"/>
              </a:rPr>
              <a:t>09</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pic>
        <p:nvPicPr>
          <p:cNvPr id="2" name="Image 0" descr="Sparkle ornament">    </p:cNvPr>
          <p:cNvPicPr>
            <a:picLocks noChangeAspect="1"/>
          </p:cNvPicPr>
          <p:nvPr/>
        </p:nvPicPr>
        <p:blipFill>
          <a:blip r:embed="rId1"/>
          <a:srcRect l="0" r="0" t="0" b="0"/>
          <a:stretch/>
        </p:blipFill>
        <p:spPr>
          <a:xfrm>
            <a:off x="10795000" y="812800"/>
            <a:ext cx="304800" cy="304800"/>
          </a:xfrm>
          <a:prstGeom prst="rect">
            <a:avLst/>
          </a:prstGeom>
        </p:spPr>
      </p:pic>
      <p:sp>
        <p:nvSpPr>
          <p:cNvPr id="3" name="Shape 0"/>
          <p:cNvSpPr/>
          <p:nvPr/>
        </p:nvSpPr>
        <p:spPr>
          <a:xfrm>
            <a:off x="11112500" y="1270000"/>
            <a:ext cx="12700" cy="1397000"/>
          </a:xfrm>
          <a:prstGeom prst="rect">
            <a:avLst/>
          </a:prstGeom>
          <a:solidFill>
            <a:srgbClr val="14181F"/>
          </a:solidFill>
          <a:ln/>
        </p:spPr>
      </p:sp>
      <p:pic>
        <p:nvPicPr>
          <p:cNvPr id="4" name="Image 1" descr="line">    </p:cNvPr>
          <p:cNvPicPr>
            <a:picLocks noChangeAspect="1"/>
          </p:cNvPicPr>
          <p:nvPr/>
        </p:nvPicPr>
        <p:blipFill>
          <a:blip r:embed="rId2"/>
          <a:srcRect l="0" r="0" t="-3333" b="-3333"/>
          <a:stretch/>
        </p:blipFill>
        <p:spPr>
          <a:xfrm>
            <a:off x="812800" y="5715000"/>
            <a:ext cx="2286000" cy="20320"/>
          </a:xfrm>
          <a:prstGeom prst="rect">
            <a:avLst/>
          </a:prstGeom>
        </p:spPr>
      </p:pic>
      <p:pic>
        <p:nvPicPr>
          <p:cNvPr id="5" name="Image 2" descr="Sparkle ornament">    </p:cNvPr>
          <p:cNvPicPr>
            <a:picLocks noChangeAspect="1"/>
          </p:cNvPicPr>
          <p:nvPr/>
        </p:nvPicPr>
        <p:blipFill>
          <a:blip r:embed="rId3"/>
          <a:srcRect l="0" r="0" t="0" b="0"/>
          <a:stretch/>
        </p:blipFill>
        <p:spPr>
          <a:xfrm>
            <a:off x="3175000" y="5568950"/>
            <a:ext cx="304800" cy="304800"/>
          </a:xfrm>
          <a:prstGeom prst="rect">
            <a:avLst/>
          </a:prstGeom>
        </p:spPr>
      </p:pic>
      <p:sp>
        <p:nvSpPr>
          <p:cNvPr id="6" name="Text 1"/>
          <p:cNvSpPr/>
          <p:nvPr>
            <p:ph type="title"/>
          </p:nvPr>
        </p:nvSpPr>
        <p:spPr>
          <a:xfrm>
            <a:off x="2663952" y="2188846"/>
            <a:ext cx="6864096" cy="958850"/>
          </a:xfrm>
          <a:prstGeom prst="rect">
            <a:avLst/>
          </a:prstGeom>
          <a:noFill/>
          <a:ln/>
        </p:spPr>
        <p:txBody>
          <a:bodyPr wrap="square" lIns="0" tIns="0" rIns="0" bIns="0" rtlCol="0" anchor="t">
            <a:normAutofit/>
          </a:bodyPr>
          <a:lstStyle/>
          <a:p>
            <a:pPr algn="ctr" indent="0" marL="0">
              <a:lnSpc>
                <a:spcPts val="7350"/>
              </a:lnSpc>
              <a:buNone/>
            </a:pPr>
            <a:r>
              <a:rPr lang="en-US" sz="7000" b="0" i="0" spc="400" kern="0" dirty="0">
                <a:solidFill>
                  <a:srgbClr val="14181F"/>
                </a:solidFill>
                <a:latin typeface="Georgia" pitchFamily="18" charset="0"/>
                <a:ea typeface="Georgia" pitchFamily="18" charset="-122"/>
                <a:cs typeface="Georgia" pitchFamily="18" charset="-120"/>
              </a:rPr>
              <a:t>THANK YOU</a:t>
            </a:r>
            <a:endParaRPr lang="en-US" sz="7000" dirty="0"/>
          </a:p>
        </p:txBody>
      </p:sp>
      <p:sp>
        <p:nvSpPr>
          <p:cNvPr id="7" name="Text 2"/>
          <p:cNvSpPr/>
          <p:nvPr/>
        </p:nvSpPr>
        <p:spPr>
          <a:xfrm>
            <a:off x="4201160" y="3357246"/>
            <a:ext cx="3789680" cy="810260"/>
          </a:xfrm>
          <a:prstGeom prst="roundRect">
            <a:avLst>
              <a:gd name="adj" fmla="val 50000"/>
            </a:avLst>
          </a:prstGeom>
          <a:solidFill>
            <a:srgbClr val="FFFFFF">
              <a:alpha val="55000"/>
            </a:srgbClr>
          </a:solidFill>
          <a:ln w="12700">
            <a:solidFill>
              <a:srgbClr val="14181F"/>
            </a:solidFill>
            <a:prstDash val="solid"/>
          </a:ln>
        </p:spPr>
        <p:txBody>
          <a:bodyPr wrap="none" lIns="0" tIns="0" rIns="0" bIns="0" rtlCol="0" anchor="ctr">
            <a:normAutofit/>
          </a:bodyPr>
          <a:lstStyle/>
          <a:p>
            <a:pPr algn="ctr" indent="0" marL="0">
              <a:lnSpc>
                <a:spcPts val="3920"/>
              </a:lnSpc>
              <a:buNone/>
            </a:pPr>
            <a:r>
              <a:rPr lang="en-US" sz="2800" spc="300" kern="0" dirty="0">
                <a:solidFill>
                  <a:srgbClr val="14181F"/>
                </a:solidFill>
                <a:latin typeface="Georgia" pitchFamily="18" charset="0"/>
                <a:ea typeface="Georgia" pitchFamily="18" charset="-122"/>
                <a:cs typeface="Georgia" pitchFamily="18" charset="-120"/>
              </a:rPr>
              <a:t>Q&amp;A SESSION</a:t>
            </a:r>
            <a:endParaRPr lang="en-US" sz="2800" dirty="0"/>
          </a:p>
        </p:txBody>
      </p:sp>
      <p:sp>
        <p:nvSpPr>
          <p:cNvPr id="8" name="Text 3"/>
          <p:cNvSpPr/>
          <p:nvPr/>
        </p:nvSpPr>
        <p:spPr>
          <a:xfrm>
            <a:off x="4715256" y="4402454"/>
            <a:ext cx="2761488" cy="292100"/>
          </a:xfrm>
          <a:prstGeom prst="rect">
            <a:avLst/>
          </a:prstGeom>
          <a:noFill/>
          <a:ln/>
        </p:spPr>
        <p:txBody>
          <a:bodyPr wrap="square" lIns="0" tIns="0" rIns="0" bIns="0" rtlCol="0" anchor="t">
            <a:normAutofit/>
          </a:bodyPr>
          <a:lstStyle/>
          <a:p>
            <a:pPr algn="ctr" indent="0" marL="0">
              <a:lnSpc>
                <a:spcPts val="2100"/>
              </a:lnSpc>
              <a:buNone/>
            </a:pPr>
            <a:r>
              <a:rPr lang="en-US" sz="1500" dirty="0">
                <a:solidFill>
                  <a:srgbClr val="2B3340"/>
                </a:solidFill>
                <a:latin typeface="Arial" pitchFamily="34" charset="0"/>
                <a:ea typeface="Arial" pitchFamily="34" charset="-122"/>
                <a:cs typeface="Arial" pitchFamily="34" charset="-120"/>
              </a:rPr>
              <a:t>Presented by [Team name]</a:t>
            </a:r>
            <a:endParaRPr lang="en-US" sz="1500" dirty="0"/>
          </a:p>
        </p:txBody>
      </p:sp>
    </p:spTree>
  </p:cSld>
  <p:clrMapOvr>
    <a:masterClrMapping/>
  </p:clrMapOvr>
</p:sld>
</file>

<file path=ppt/theme/theme1.xml><?xml version="1.0" encoding="utf-8"?>
<a:theme xmlns:a="http://schemas.openxmlformats.org/drawingml/2006/main" name="Clinica Appointment &amp; Prescription Manager">
  <a:themeElements>
    <a:clrScheme name="Clinica Appointment &amp; Prescription Manager">
      <a:dk1>
        <a:srgbClr val="14181F"/>
      </a:dk1>
      <a:lt1>
        <a:srgbClr val="D5ECE8"/>
      </a:lt1>
      <a:dk2>
        <a:srgbClr val="444D51"/>
      </a:dk2>
      <a:lt2>
        <a:srgbClr val="C2D7D4"/>
      </a:lt2>
      <a:accent1>
        <a:srgbClr val="2B3340"/>
      </a:accent1>
      <a:accent2>
        <a:srgbClr val="4A5565"/>
      </a:accent2>
      <a:accent3>
        <a:srgbClr val="F6E3EB"/>
      </a:accent3>
      <a:accent4>
        <a:srgbClr val="9AA0A6"/>
      </a:accent4>
      <a:accent5>
        <a:srgbClr val="616D6F"/>
      </a:accent5>
      <a:accent6>
        <a:srgbClr val="7E8D8E"/>
      </a:accent6>
      <a:hlink>
        <a:srgbClr val="0563C1"/>
      </a:hlink>
      <a:folHlink>
        <a:srgbClr val="954F72"/>
      </a:folHlink>
    </a:clrScheme>
    <a:fontScheme name="Clinica Appointment &amp; Prescription Manager">
      <a:majorFont>
        <a:latin typeface="Georg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Clinica Appointment &amp; Prescription Manager</dc:title>
  <dc:subject/>
  <dc:creator/>
  <cp:lastModifiedBy/>
  <cp:revision>1</cp:revision>
  <dcterms:created xsi:type="dcterms:W3CDTF">2026-10-14T12:12:08Z</dcterms:created>
  <dcterms:modified xsi:type="dcterms:W3CDTF">2026-10-14T12:12:08Z</dcterms:modified>
</cp:coreProperties>
</file>